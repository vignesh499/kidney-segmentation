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7" r:id="rId5"/>
  </p:sldMasterIdLst>
  <p:notesMasterIdLst>
    <p:notesMasterId r:id="rId32"/>
  </p:notesMasterIdLst>
  <p:sldIdLst>
    <p:sldId id="256" r:id="rId6"/>
    <p:sldId id="284" r:id="rId7"/>
    <p:sldId id="257" r:id="rId8"/>
    <p:sldId id="258" r:id="rId9"/>
    <p:sldId id="282" r:id="rId10"/>
    <p:sldId id="260" r:id="rId11"/>
    <p:sldId id="277" r:id="rId12"/>
    <p:sldId id="278" r:id="rId13"/>
    <p:sldId id="279" r:id="rId14"/>
    <p:sldId id="280" r:id="rId15"/>
    <p:sldId id="273" r:id="rId16"/>
    <p:sldId id="262" r:id="rId17"/>
    <p:sldId id="263" r:id="rId18"/>
    <p:sldId id="264" r:id="rId19"/>
    <p:sldId id="274" r:id="rId20"/>
    <p:sldId id="275" r:id="rId21"/>
    <p:sldId id="265" r:id="rId22"/>
    <p:sldId id="266" r:id="rId23"/>
    <p:sldId id="267" r:id="rId24"/>
    <p:sldId id="268" r:id="rId25"/>
    <p:sldId id="283" r:id="rId26"/>
    <p:sldId id="269" r:id="rId27"/>
    <p:sldId id="286" r:id="rId28"/>
    <p:sldId id="287" r:id="rId29"/>
    <p:sldId id="288" r:id="rId30"/>
    <p:sldId id="272" r:id="rId3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lvl1pPr>
    <a:lvl2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lvl2pPr>
    <a:lvl3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lvl3pPr>
    <a:lvl4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lvl4pPr>
    <a:lvl5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lvl5pPr>
    <a:lvl6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lvl6pPr>
    <a:lvl7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lvl7pPr>
    <a:lvl8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lvl8pPr>
    <a:lvl9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EE"/>
          </a:solidFill>
        </a:fill>
      </a:tcStyle>
    </a:wholeTbl>
    <a:band2H>
      <a:tcTxStyle/>
      <a:tcStyle>
        <a:tcBdr/>
        <a:fill>
          <a:solidFill>
            <a:srgbClr val="E8EBF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E5CD"/>
          </a:solidFill>
        </a:fill>
      </a:tcStyle>
    </a:wholeTbl>
    <a:band2H>
      <a:tcTxStyle/>
      <a:tcStyle>
        <a:tcBdr/>
        <a:fill>
          <a:solidFill>
            <a:srgbClr val="E8F2E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3E5"/>
          </a:solidFill>
        </a:fill>
      </a:tcStyle>
    </a:wholeTbl>
    <a:band2H>
      <a:tcTxStyle/>
      <a:tcStyle>
        <a:tcBdr/>
        <a:fill>
          <a:solidFill>
            <a:srgbClr val="ECEAF3"/>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94"/>
  </p:normalViewPr>
  <p:slideViewPr>
    <p:cSldViewPr snapToGrid="0">
      <p:cViewPr varScale="1">
        <p:scale>
          <a:sx n="45" d="100"/>
          <a:sy n="45" d="100"/>
        </p:scale>
        <p:origin x="33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87321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1" name="Body Level One…"/>
          <p:cNvSpPr txBox="1">
            <a:spLocks noGrp="1"/>
          </p:cNvSpPr>
          <p:nvPr>
            <p:ph type="body" sz="quarter" idx="1" hasCustomPrompt="1"/>
          </p:nvPr>
        </p:nvSpPr>
        <p:spPr>
          <a:xfrm>
            <a:off x="1219200" y="11986162"/>
            <a:ext cx="21945599" cy="605792"/>
          </a:xfrm>
          <a:prstGeom prst="rect">
            <a:avLst/>
          </a:prstGeom>
        </p:spPr>
        <p:txBody>
          <a:bodyPr/>
          <a:lstStyle>
            <a:lvl1pPr marL="0" indent="0" algn="ctr" defTabSz="825500">
              <a:lnSpc>
                <a:spcPct val="100000"/>
              </a:lnSpc>
              <a:spcBef>
                <a:spcPts val="0"/>
              </a:spcBef>
              <a:buSzTx/>
              <a:buNone/>
              <a:defRPr sz="3000" spc="-29">
                <a:latin typeface="Graphik Medium"/>
                <a:ea typeface="Graphik Medium"/>
                <a:cs typeface="Graphik Medium"/>
                <a:sym typeface="Graphik Medium"/>
              </a:defRPr>
            </a:lvl1pPr>
            <a:lvl2pPr marL="918440" indent="-372340" algn="ctr" defTabSz="825500">
              <a:lnSpc>
                <a:spcPct val="100000"/>
              </a:lnSpc>
              <a:spcBef>
                <a:spcPts val="0"/>
              </a:spcBef>
              <a:defRPr sz="3000" spc="-29">
                <a:latin typeface="Graphik Medium"/>
                <a:ea typeface="Graphik Medium"/>
                <a:cs typeface="Graphik Medium"/>
                <a:sym typeface="Graphik Medium"/>
              </a:defRPr>
            </a:lvl2pPr>
            <a:lvl3pPr marL="1464540" indent="-372340" algn="ctr" defTabSz="825500">
              <a:lnSpc>
                <a:spcPct val="100000"/>
              </a:lnSpc>
              <a:spcBef>
                <a:spcPts val="0"/>
              </a:spcBef>
              <a:defRPr sz="3000" spc="-29">
                <a:latin typeface="Graphik Medium"/>
                <a:ea typeface="Graphik Medium"/>
                <a:cs typeface="Graphik Medium"/>
                <a:sym typeface="Graphik Medium"/>
              </a:defRPr>
            </a:lvl3pPr>
            <a:lvl4pPr marL="2010640" indent="-372340" algn="ctr" defTabSz="825500">
              <a:lnSpc>
                <a:spcPct val="100000"/>
              </a:lnSpc>
              <a:spcBef>
                <a:spcPts val="0"/>
              </a:spcBef>
              <a:defRPr sz="3000" spc="-29">
                <a:latin typeface="Graphik Medium"/>
                <a:ea typeface="Graphik Medium"/>
                <a:cs typeface="Graphik Medium"/>
                <a:sym typeface="Graphik Medium"/>
              </a:defRPr>
            </a:lvl4pPr>
            <a:lvl5pPr marL="2556740" indent="-372340" algn="ctr" defTabSz="825500">
              <a:lnSpc>
                <a:spcPct val="100000"/>
              </a:lnSpc>
              <a:spcBef>
                <a:spcPts val="0"/>
              </a:spcBef>
              <a:defRPr sz="3000" spc="-29">
                <a:latin typeface="Graphik Medium"/>
                <a:ea typeface="Graphik Medium"/>
                <a:cs typeface="Graphik Medium"/>
                <a:sym typeface="Graphik Medium"/>
              </a:defRPr>
            </a:lvl5pPr>
          </a:lstStyle>
          <a:p>
            <a:r>
              <a:t>Author and Date</a:t>
            </a:r>
          </a:p>
          <a:p>
            <a:pPr lvl="1"/>
            <a:endParaRPr/>
          </a:p>
          <a:p>
            <a:pPr lvl="2"/>
            <a:endParaRPr/>
          </a:p>
          <a:p>
            <a:pPr lvl="3"/>
            <a:endParaRPr/>
          </a:p>
          <a:p>
            <a:pPr lvl="4"/>
            <a:endParaRPr/>
          </a:p>
        </p:txBody>
      </p:sp>
      <p:sp>
        <p:nvSpPr>
          <p:cNvPr id="12" name="Presentation Title"/>
          <p:cNvSpPr txBox="1">
            <a:spLocks noGrp="1"/>
          </p:cNvSpPr>
          <p:nvPr>
            <p:ph type="title" hasCustomPrompt="1"/>
          </p:nvPr>
        </p:nvSpPr>
        <p:spPr>
          <a:xfrm>
            <a:off x="1219200" y="3543300"/>
            <a:ext cx="21945600" cy="4267200"/>
          </a:xfrm>
          <a:prstGeom prst="rect">
            <a:avLst/>
          </a:prstGeom>
        </p:spPr>
        <p:txBody>
          <a:bodyPr anchor="b"/>
          <a:lstStyle>
            <a:lvl1pPr>
              <a:defRPr sz="12800" spc="-128"/>
            </a:lvl1pPr>
          </a:lstStyle>
          <a:p>
            <a:r>
              <a:t>Presentation Title</a:t>
            </a:r>
          </a:p>
        </p:txBody>
      </p:sp>
      <p:sp>
        <p:nvSpPr>
          <p:cNvPr id="13" name="Body Level One…"/>
          <p:cNvSpPr txBox="1">
            <a:spLocks noGrp="1"/>
          </p:cNvSpPr>
          <p:nvPr>
            <p:ph type="body" sz="quarter" idx="21" hasCustomPrompt="1"/>
          </p:nvPr>
        </p:nvSpPr>
        <p:spPr>
          <a:xfrm>
            <a:off x="1219200" y="7567579"/>
            <a:ext cx="21945600" cy="2250594"/>
          </a:xfrm>
          <a:prstGeom prst="rect">
            <a:avLst/>
          </a:prstGeom>
        </p:spPr>
        <p:txBody>
          <a:bodyPr/>
          <a:lstStyle>
            <a:lvl1pPr marL="0" indent="0" algn="ctr" defTabSz="825500">
              <a:lnSpc>
                <a:spcPct val="100000"/>
              </a:lnSpc>
              <a:spcBef>
                <a:spcPts val="0"/>
              </a:spcBef>
              <a:buSzTx/>
              <a:buNone/>
              <a:defRPr sz="6000" spc="-100">
                <a:latin typeface="Graphik Semibold"/>
                <a:ea typeface="Graphik Semibold"/>
                <a:cs typeface="Graphik Semibold"/>
                <a:sym typeface="Graphik Semibold"/>
              </a:defRPr>
            </a:lvl1pPr>
          </a:lstStyle>
          <a:p>
            <a:r>
              <a:t>Presentation Subtitle</a:t>
            </a:r>
          </a:p>
        </p:txBody>
      </p:sp>
      <p:sp>
        <p:nvSpPr>
          <p:cNvPr id="14" name="Slide Number"/>
          <p:cNvSpPr txBox="1">
            <a:spLocks noGrp="1"/>
          </p:cNvSpPr>
          <p:nvPr>
            <p:ph type="sldNum" sz="quarter" idx="2"/>
          </p:nvPr>
        </p:nvSpPr>
        <p:spPr>
          <a:xfrm>
            <a:off x="1200149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Beach and sea at sunset"/>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19200" y="3543300"/>
            <a:ext cx="21945600" cy="4267200"/>
          </a:xfrm>
          <a:prstGeom prst="rect">
            <a:avLst/>
          </a:prstGeom>
        </p:spPr>
        <p:txBody>
          <a:bodyPr anchor="b"/>
          <a:lstStyle>
            <a:lvl1pPr>
              <a:defRPr sz="12800" spc="-128">
                <a:solidFill>
                  <a:srgbClr val="FFFFFF"/>
                </a:solidFill>
              </a:defRPr>
            </a:lvl1pPr>
          </a:lstStyle>
          <a:p>
            <a:r>
              <a:t>Presentation Title</a:t>
            </a:r>
          </a:p>
        </p:txBody>
      </p:sp>
      <p:sp>
        <p:nvSpPr>
          <p:cNvPr id="23" name="Body Level One…"/>
          <p:cNvSpPr txBox="1">
            <a:spLocks noGrp="1"/>
          </p:cNvSpPr>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z="6000" spc="-58">
                <a:solidFill>
                  <a:srgbClr val="FFFFFF"/>
                </a:solidFill>
                <a:latin typeface="Graphik Semibold"/>
                <a:ea typeface="Graphik Semibold"/>
                <a:cs typeface="Graphik Semibold"/>
                <a:sym typeface="Graphik Semibold"/>
              </a:defRPr>
            </a:lvl1pPr>
            <a:lvl2pPr marL="0" indent="0" algn="ctr" defTabSz="825500">
              <a:lnSpc>
                <a:spcPct val="100000"/>
              </a:lnSpc>
              <a:spcBef>
                <a:spcPts val="0"/>
              </a:spcBef>
              <a:buSzTx/>
              <a:buNone/>
              <a:defRPr sz="6000" spc="-58">
                <a:solidFill>
                  <a:srgbClr val="FFFFFF"/>
                </a:solidFill>
                <a:latin typeface="Graphik Semibold"/>
                <a:ea typeface="Graphik Semibold"/>
                <a:cs typeface="Graphik Semibold"/>
                <a:sym typeface="Graphik Semibold"/>
              </a:defRPr>
            </a:lvl2pPr>
            <a:lvl3pPr marL="0" indent="0" algn="ctr" defTabSz="825500">
              <a:lnSpc>
                <a:spcPct val="100000"/>
              </a:lnSpc>
              <a:spcBef>
                <a:spcPts val="0"/>
              </a:spcBef>
              <a:buSzTx/>
              <a:buNone/>
              <a:defRPr sz="6000" spc="-58">
                <a:solidFill>
                  <a:srgbClr val="FFFFFF"/>
                </a:solidFill>
                <a:latin typeface="Graphik Semibold"/>
                <a:ea typeface="Graphik Semibold"/>
                <a:cs typeface="Graphik Semibold"/>
                <a:sym typeface="Graphik Semibold"/>
              </a:defRPr>
            </a:lvl3pPr>
            <a:lvl4pPr marL="0" indent="0" algn="ctr" defTabSz="825500">
              <a:lnSpc>
                <a:spcPct val="100000"/>
              </a:lnSpc>
              <a:spcBef>
                <a:spcPts val="0"/>
              </a:spcBef>
              <a:buSzTx/>
              <a:buNone/>
              <a:defRPr sz="6000" spc="-58">
                <a:solidFill>
                  <a:srgbClr val="FFFFFF"/>
                </a:solidFill>
                <a:latin typeface="Graphik Semibold"/>
                <a:ea typeface="Graphik Semibold"/>
                <a:cs typeface="Graphik Semibold"/>
                <a:sym typeface="Graphik Semibold"/>
              </a:defRPr>
            </a:lvl4pPr>
            <a:lvl5pPr marL="0" indent="0" algn="ctr" defTabSz="825500">
              <a:lnSpc>
                <a:spcPct val="100000"/>
              </a:lnSpc>
              <a:spcBef>
                <a:spcPts val="0"/>
              </a:spcBef>
              <a:buSzTx/>
              <a:buNone/>
              <a:defRPr sz="6000" spc="-58">
                <a:solidFill>
                  <a:srgbClr val="FFFFFF"/>
                </a:solidFill>
                <a:latin typeface="Graphik Semibold"/>
                <a:ea typeface="Graphik Semibold"/>
                <a:cs typeface="Graphik Semibold"/>
                <a:sym typeface="Graphik Semibold"/>
              </a:defRPr>
            </a:lvl5pPr>
          </a:lstStyle>
          <a:p>
            <a:r>
              <a:t>Presentation Subtitle</a:t>
            </a:r>
          </a:p>
          <a:p>
            <a:pPr lvl="1"/>
            <a:endParaRPr/>
          </a:p>
          <a:p>
            <a:pPr lvl="2"/>
            <a:endParaRPr/>
          </a:p>
          <a:p>
            <a:pPr lvl="3"/>
            <a:endParaRPr/>
          </a:p>
          <a:p>
            <a:pPr lvl="4"/>
            <a:endParaRPr/>
          </a:p>
        </p:txBody>
      </p:sp>
      <p:sp>
        <p:nvSpPr>
          <p:cNvPr id="24" name="Author and Date"/>
          <p:cNvSpPr txBox="1">
            <a:spLocks noGrp="1"/>
          </p:cNvSpPr>
          <p:nvPr>
            <p:ph type="body" sz="quarter" idx="22" hasCustomPrompt="1"/>
          </p:nvPr>
        </p:nvSpPr>
        <p:spPr>
          <a:xfrm>
            <a:off x="1219200" y="11988800"/>
            <a:ext cx="21945602" cy="605791"/>
          </a:xfrm>
          <a:prstGeom prst="rect">
            <a:avLst/>
          </a:prstGeom>
        </p:spPr>
        <p:txBody>
          <a:bodyPr/>
          <a:lstStyle>
            <a:lvl1pPr marL="0" indent="0" algn="ctr" defTabSz="825500">
              <a:lnSpc>
                <a:spcPct val="100000"/>
              </a:lnSpc>
              <a:spcBef>
                <a:spcPts val="0"/>
              </a:spcBef>
              <a:buSzTx/>
              <a:buNone/>
              <a:defRPr sz="3000" spc="-100">
                <a:solidFill>
                  <a:srgbClr val="FFFFFF"/>
                </a:solidFill>
                <a:latin typeface="Graphik Medium"/>
                <a:ea typeface="Graphik Medium"/>
                <a:cs typeface="Graphik Medium"/>
                <a:sym typeface="Graphik Medium"/>
              </a:defRPr>
            </a:lvl1pPr>
          </a:lstStyle>
          <a:p>
            <a:r>
              <a:t>Author and Date</a:t>
            </a:r>
          </a:p>
        </p:txBody>
      </p:sp>
      <p:sp>
        <p:nvSpPr>
          <p:cNvPr id="2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Slide Title"/>
          <p:cNvSpPr txBox="1">
            <a:spLocks noGrp="1"/>
          </p:cNvSpPr>
          <p:nvPr>
            <p:ph type="title" hasCustomPrompt="1"/>
          </p:nvPr>
        </p:nvSpPr>
        <p:spPr>
          <a:xfrm>
            <a:off x="1215494" y="4585101"/>
            <a:ext cx="9757339" cy="2540002"/>
          </a:xfrm>
          <a:prstGeom prst="rect">
            <a:avLst/>
          </a:prstGeom>
        </p:spPr>
        <p:txBody>
          <a:bodyPr anchor="b"/>
          <a:lstStyle/>
          <a:p>
            <a:r>
              <a:t>Slide Title</a:t>
            </a:r>
          </a:p>
        </p:txBody>
      </p:sp>
      <p:sp>
        <p:nvSpPr>
          <p:cNvPr id="33" name="Sea against sky at sunset"/>
          <p:cNvSpPr>
            <a:spLocks noGrp="1"/>
          </p:cNvSpPr>
          <p:nvPr>
            <p:ph type="pic" idx="21"/>
          </p:nvPr>
        </p:nvSpPr>
        <p:spPr>
          <a:xfrm>
            <a:off x="9283700" y="1270000"/>
            <a:ext cx="16751300" cy="11176000"/>
          </a:xfrm>
          <a:prstGeom prst="rect">
            <a:avLst/>
          </a:prstGeom>
        </p:spPr>
        <p:txBody>
          <a:bodyPr lIns="91439" tIns="45719" rIns="91439" bIns="45719">
            <a:noAutofit/>
          </a:bodyPr>
          <a:lstStyle/>
          <a:p>
            <a:endParaRPr/>
          </a:p>
        </p:txBody>
      </p:sp>
      <p:sp>
        <p:nvSpPr>
          <p:cNvPr id="34" name="Body Level One…"/>
          <p:cNvSpPr txBox="1">
            <a:spLocks noGrp="1"/>
          </p:cNvSpPr>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marL="0" indent="0" algn="ctr" defTabSz="825500">
              <a:lnSpc>
                <a:spcPct val="100000"/>
              </a:lnSpc>
              <a:spcBef>
                <a:spcPts val="0"/>
              </a:spcBef>
              <a:buSzTx/>
              <a:buNone/>
              <a:defRPr spc="-44">
                <a:latin typeface="Graphik Semibold"/>
                <a:ea typeface="Graphik Semibold"/>
                <a:cs typeface="Graphik Semibold"/>
                <a:sym typeface="Graphik Semibold"/>
              </a:defRPr>
            </a:lvl2pPr>
            <a:lvl3pPr marL="0" indent="0" algn="ctr" defTabSz="825500">
              <a:lnSpc>
                <a:spcPct val="100000"/>
              </a:lnSpc>
              <a:spcBef>
                <a:spcPts val="0"/>
              </a:spcBef>
              <a:buSzTx/>
              <a:buNone/>
              <a:defRPr spc="-44">
                <a:latin typeface="Graphik Semibold"/>
                <a:ea typeface="Graphik Semibold"/>
                <a:cs typeface="Graphik Semibold"/>
                <a:sym typeface="Graphik Semibold"/>
              </a:defRPr>
            </a:lvl3pPr>
            <a:lvl4pPr marL="0" indent="0" algn="ctr" defTabSz="825500">
              <a:lnSpc>
                <a:spcPct val="100000"/>
              </a:lnSpc>
              <a:spcBef>
                <a:spcPts val="0"/>
              </a:spcBef>
              <a:buSzTx/>
              <a:buNone/>
              <a:defRPr spc="-44">
                <a:latin typeface="Graphik Semibold"/>
                <a:ea typeface="Graphik Semibold"/>
                <a:cs typeface="Graphik Semibold"/>
                <a:sym typeface="Graphik Semibold"/>
              </a:defRPr>
            </a:lvl4pPr>
            <a:lvl5pPr marL="0" indent="0" algn="ctr" defTabSz="825500">
              <a:lnSpc>
                <a:spcPct val="100000"/>
              </a:lnSpc>
              <a:spcBef>
                <a:spcPts val="0"/>
              </a:spcBef>
              <a:buSzTx/>
              <a:buNone/>
              <a:defRPr spc="-44">
                <a:latin typeface="Graphik Semibold"/>
                <a:ea typeface="Graphik Semibold"/>
                <a:cs typeface="Graphik Semibold"/>
                <a:sym typeface="Graphik Semibold"/>
              </a:defRPr>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4" name="Slide Subtitle"/>
          <p:cNvSpPr txBox="1">
            <a:spLocks noGrp="1"/>
          </p:cNvSpPr>
          <p:nvPr>
            <p:ph type="body" sz="quarter" idx="21" hasCustomPrompt="1"/>
          </p:nvPr>
        </p:nvSpPr>
        <p:spPr>
          <a:xfrm>
            <a:off x="1219200" y="2384648"/>
            <a:ext cx="21945602" cy="832614"/>
          </a:xfrm>
          <a:prstGeom prst="rect">
            <a:avLst/>
          </a:prstGeom>
        </p:spPr>
        <p:txBody>
          <a:bodyPr/>
          <a:lstStyle>
            <a:lvl1pPr marL="0" indent="0" algn="ctr" defTabSz="825500">
              <a:lnSpc>
                <a:spcPct val="100000"/>
              </a:lnSpc>
              <a:spcBef>
                <a:spcPts val="0"/>
              </a:spcBef>
              <a:buSzTx/>
              <a:buNone/>
              <a:defRPr spc="-100">
                <a:latin typeface="Graphik Semibold"/>
                <a:ea typeface="Graphik Semibold"/>
                <a:cs typeface="Graphik Semibold"/>
                <a:sym typeface="Graphik Semibold"/>
              </a:defRPr>
            </a:lvl1pPr>
          </a:lstStyle>
          <a:p>
            <a:r>
              <a:t>Slide Subtitle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xfrm>
            <a:off x="1219200" y="4013200"/>
            <a:ext cx="21945600" cy="8487148"/>
          </a:xfrm>
          <a:prstGeom prst="rect">
            <a:avLst/>
          </a:prstGeom>
        </p:spPr>
        <p:txBody>
          <a:bodyPr numCol="2" spcCol="2558383"/>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xfrm>
            <a:off x="1200149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Title"/>
          <p:cNvSpPr txBox="1">
            <a:spLocks noGrp="1"/>
          </p:cNvSpPr>
          <p:nvPr>
            <p:ph type="title" hasCustomPrompt="1"/>
          </p:nvPr>
        </p:nvSpPr>
        <p:spPr>
          <a:xfrm>
            <a:off x="1219200" y="774700"/>
            <a:ext cx="9753600" cy="1600200"/>
          </a:xfrm>
          <a:prstGeom prst="rect">
            <a:avLst/>
          </a:prstGeom>
        </p:spPr>
        <p:txBody>
          <a:bodyPr/>
          <a:lstStyle/>
          <a:p>
            <a:r>
              <a:t>Slide Title</a:t>
            </a:r>
          </a:p>
        </p:txBody>
      </p:sp>
      <p:sp>
        <p:nvSpPr>
          <p:cNvPr id="61" name="Sea against sky at sunset"/>
          <p:cNvSpPr>
            <a:spLocks noGrp="1"/>
          </p:cNvSpPr>
          <p:nvPr>
            <p:ph type="pic" idx="21"/>
          </p:nvPr>
        </p:nvSpPr>
        <p:spPr>
          <a:xfrm>
            <a:off x="12192644" y="718588"/>
            <a:ext cx="10972801" cy="12329625"/>
          </a:xfrm>
          <a:prstGeom prst="rect">
            <a:avLst/>
          </a:prstGeom>
        </p:spPr>
        <p:txBody>
          <a:bodyPr lIns="91439" tIns="45719" rIns="91439" bIns="45719">
            <a:noAutofit/>
          </a:bodyPr>
          <a:lstStyle/>
          <a:p>
            <a:endParaRPr/>
          </a:p>
        </p:txBody>
      </p:sp>
      <p:sp>
        <p:nvSpPr>
          <p:cNvPr id="62" name="Body Level One…"/>
          <p:cNvSpPr txBox="1">
            <a:spLocks noGrp="1"/>
          </p:cNvSpPr>
          <p:nvPr>
            <p:ph type="body" sz="quarter" idx="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algn="ctr" defTabSz="825500">
              <a:lnSpc>
                <a:spcPct val="100000"/>
              </a:lnSpc>
              <a:spcBef>
                <a:spcPts val="0"/>
              </a:spcBef>
              <a:defRPr spc="-44">
                <a:latin typeface="Graphik Semibold"/>
                <a:ea typeface="Graphik Semibold"/>
                <a:cs typeface="Graphik Semibold"/>
                <a:sym typeface="Graphik Semibold"/>
              </a:defRPr>
            </a:lvl2pPr>
            <a:lvl3pPr algn="ctr" defTabSz="825500">
              <a:lnSpc>
                <a:spcPct val="100000"/>
              </a:lnSpc>
              <a:spcBef>
                <a:spcPts val="0"/>
              </a:spcBef>
              <a:defRPr spc="-44">
                <a:latin typeface="Graphik Semibold"/>
                <a:ea typeface="Graphik Semibold"/>
                <a:cs typeface="Graphik Semibold"/>
                <a:sym typeface="Graphik Semibold"/>
              </a:defRPr>
            </a:lvl3pPr>
            <a:lvl4pPr algn="ctr" defTabSz="825500">
              <a:lnSpc>
                <a:spcPct val="100000"/>
              </a:lnSpc>
              <a:spcBef>
                <a:spcPts val="0"/>
              </a:spcBef>
              <a:defRPr spc="-44">
                <a:latin typeface="Graphik Semibold"/>
                <a:ea typeface="Graphik Semibold"/>
                <a:cs typeface="Graphik Semibold"/>
                <a:sym typeface="Graphik Semibold"/>
              </a:defRPr>
            </a:lvl4pPr>
            <a:lvl5pPr algn="ctr" defTabSz="825500">
              <a:lnSpc>
                <a:spcPct val="100000"/>
              </a:lnSpc>
              <a:spcBef>
                <a:spcPts val="0"/>
              </a:spcBef>
              <a:defRPr spc="-44">
                <a:latin typeface="Graphik Semibold"/>
                <a:ea typeface="Graphik Semibold"/>
                <a:cs typeface="Graphik Semibold"/>
                <a:sym typeface="Graphik Semibold"/>
              </a:defRPr>
            </a:lvl5pPr>
          </a:lstStyle>
          <a:p>
            <a:r>
              <a:t>Slide Subtitle</a:t>
            </a:r>
          </a:p>
          <a:p>
            <a:pPr lvl="1"/>
            <a:endParaRPr/>
          </a:p>
          <a:p>
            <a:pPr lvl="2"/>
            <a:endParaRPr/>
          </a:p>
          <a:p>
            <a:pPr lvl="3"/>
            <a:endParaRPr/>
          </a:p>
          <a:p>
            <a:pPr lvl="4"/>
            <a:endParaRPr/>
          </a:p>
        </p:txBody>
      </p:sp>
      <p:sp>
        <p:nvSpPr>
          <p:cNvPr id="63" name="Body Level One…"/>
          <p:cNvSpPr txBox="1">
            <a:spLocks noGrp="1"/>
          </p:cNvSpPr>
          <p:nvPr>
            <p:ph type="body" sz="half" idx="22" hasCustomPrompt="1"/>
          </p:nvPr>
        </p:nvSpPr>
        <p:spPr>
          <a:xfrm>
            <a:off x="1219199" y="4023221"/>
            <a:ext cx="9757571" cy="8384680"/>
          </a:xfrm>
          <a:prstGeom prst="rect">
            <a:avLst/>
          </a:prstGeom>
        </p:spPr>
        <p:txBody>
          <a:bodyPr/>
          <a:lstStyle/>
          <a:p>
            <a:r>
              <a:t>Slide bullet text</a:t>
            </a:r>
          </a:p>
        </p:txBody>
      </p:sp>
      <p:sp>
        <p:nvSpPr>
          <p:cNvPr id="64" name="Slide Number"/>
          <p:cNvSpPr txBox="1">
            <a:spLocks noGrp="1"/>
          </p:cNvSpPr>
          <p:nvPr>
            <p:ph type="sldNum" sz="quarter" idx="2"/>
          </p:nvPr>
        </p:nvSpPr>
        <p:spPr>
          <a:xfrm>
            <a:off x="1200403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Title"/>
          <p:cNvSpPr txBox="1">
            <a:spLocks noGrp="1"/>
          </p:cNvSpPr>
          <p:nvPr>
            <p:ph type="title" hasCustomPrompt="1"/>
          </p:nvPr>
        </p:nvSpPr>
        <p:spPr>
          <a:xfrm>
            <a:off x="1219200" y="774700"/>
            <a:ext cx="9753600" cy="1600200"/>
          </a:xfrm>
          <a:prstGeom prst="rect">
            <a:avLst/>
          </a:prstGeom>
        </p:spPr>
        <p:txBody>
          <a:bodyPr/>
          <a:lstStyle/>
          <a:p>
            <a:r>
              <a:t>Slide Title</a:t>
            </a:r>
          </a:p>
        </p:txBody>
      </p:sp>
      <p:sp>
        <p:nvSpPr>
          <p:cNvPr id="72" name="Body Level One…"/>
          <p:cNvSpPr txBox="1">
            <a:spLocks noGrp="1"/>
          </p:cNvSpPr>
          <p:nvPr>
            <p:ph type="body" sz="quarter" idx="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algn="ctr" defTabSz="825500">
              <a:lnSpc>
                <a:spcPct val="100000"/>
              </a:lnSpc>
              <a:spcBef>
                <a:spcPts val="0"/>
              </a:spcBef>
              <a:defRPr spc="-44">
                <a:latin typeface="Graphik Semibold"/>
                <a:ea typeface="Graphik Semibold"/>
                <a:cs typeface="Graphik Semibold"/>
                <a:sym typeface="Graphik Semibold"/>
              </a:defRPr>
            </a:lvl2pPr>
            <a:lvl3pPr algn="ctr" defTabSz="825500">
              <a:lnSpc>
                <a:spcPct val="100000"/>
              </a:lnSpc>
              <a:spcBef>
                <a:spcPts val="0"/>
              </a:spcBef>
              <a:defRPr spc="-44">
                <a:latin typeface="Graphik Semibold"/>
                <a:ea typeface="Graphik Semibold"/>
                <a:cs typeface="Graphik Semibold"/>
                <a:sym typeface="Graphik Semibold"/>
              </a:defRPr>
            </a:lvl3pPr>
            <a:lvl4pPr algn="ctr" defTabSz="825500">
              <a:lnSpc>
                <a:spcPct val="100000"/>
              </a:lnSpc>
              <a:spcBef>
                <a:spcPts val="0"/>
              </a:spcBef>
              <a:defRPr spc="-44">
                <a:latin typeface="Graphik Semibold"/>
                <a:ea typeface="Graphik Semibold"/>
                <a:cs typeface="Graphik Semibold"/>
                <a:sym typeface="Graphik Semibold"/>
              </a:defRPr>
            </a:lvl4pPr>
            <a:lvl5pPr algn="ctr" defTabSz="825500">
              <a:lnSpc>
                <a:spcPct val="100000"/>
              </a:lnSpc>
              <a:spcBef>
                <a:spcPts val="0"/>
              </a:spcBef>
              <a:defRPr spc="-44">
                <a:latin typeface="Graphik Semibold"/>
                <a:ea typeface="Graphik Semibold"/>
                <a:cs typeface="Graphik Semibold"/>
                <a:sym typeface="Graphik Semibold"/>
              </a:defRPr>
            </a:lvl5pPr>
          </a:lstStyle>
          <a:p>
            <a:r>
              <a:t>Slide Subtitle</a:t>
            </a:r>
          </a:p>
          <a:p>
            <a:pPr lvl="1"/>
            <a:endParaRPr/>
          </a:p>
          <a:p>
            <a:pPr lvl="2"/>
            <a:endParaRPr/>
          </a:p>
          <a:p>
            <a:pPr lvl="3"/>
            <a:endParaRPr/>
          </a:p>
          <a:p>
            <a:pPr lvl="4"/>
            <a:endParaRPr/>
          </a:p>
        </p:txBody>
      </p:sp>
      <p:sp>
        <p:nvSpPr>
          <p:cNvPr id="73" name="Body Level One…"/>
          <p:cNvSpPr txBox="1">
            <a:spLocks noGrp="1"/>
          </p:cNvSpPr>
          <p:nvPr>
            <p:ph type="body" sz="half" idx="21" hasCustomPrompt="1"/>
          </p:nvPr>
        </p:nvSpPr>
        <p:spPr>
          <a:xfrm>
            <a:off x="1219199" y="4023221"/>
            <a:ext cx="9757571" cy="8384680"/>
          </a:xfrm>
          <a:prstGeom prst="rect">
            <a:avLst/>
          </a:prstGeom>
        </p:spPr>
        <p:txBody>
          <a:bodyPr/>
          <a:lstStyle/>
          <a:p>
            <a:r>
              <a:t>Slide bullet text</a:t>
            </a:r>
          </a:p>
        </p:txBody>
      </p:sp>
      <p:sp>
        <p:nvSpPr>
          <p:cNvPr id="74" name="Slide Number"/>
          <p:cNvSpPr txBox="1">
            <a:spLocks noGrp="1"/>
          </p:cNvSpPr>
          <p:nvPr>
            <p:ph type="sldNum" sz="quarter" idx="2"/>
          </p:nvPr>
        </p:nvSpPr>
        <p:spPr>
          <a:xfrm>
            <a:off x="1200403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1219200" y="774700"/>
            <a:ext cx="9753600" cy="1600200"/>
          </a:xfrm>
          <a:prstGeom prst="rect">
            <a:avLst/>
          </a:prstGeom>
        </p:spPr>
        <p:txBody>
          <a:bodyPr/>
          <a:lstStyle/>
          <a:p>
            <a:r>
              <a:t>Slide Title</a:t>
            </a:r>
          </a:p>
        </p:txBody>
      </p:sp>
      <p:sp>
        <p:nvSpPr>
          <p:cNvPr id="82" name="Body Level One…"/>
          <p:cNvSpPr txBox="1">
            <a:spLocks noGrp="1"/>
          </p:cNvSpPr>
          <p:nvPr>
            <p:ph type="body" sz="quarter" idx="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algn="ctr" defTabSz="825500">
              <a:lnSpc>
                <a:spcPct val="100000"/>
              </a:lnSpc>
              <a:spcBef>
                <a:spcPts val="0"/>
              </a:spcBef>
              <a:defRPr spc="-44">
                <a:latin typeface="Graphik Semibold"/>
                <a:ea typeface="Graphik Semibold"/>
                <a:cs typeface="Graphik Semibold"/>
                <a:sym typeface="Graphik Semibold"/>
              </a:defRPr>
            </a:lvl2pPr>
            <a:lvl3pPr algn="ctr" defTabSz="825500">
              <a:lnSpc>
                <a:spcPct val="100000"/>
              </a:lnSpc>
              <a:spcBef>
                <a:spcPts val="0"/>
              </a:spcBef>
              <a:defRPr spc="-44">
                <a:latin typeface="Graphik Semibold"/>
                <a:ea typeface="Graphik Semibold"/>
                <a:cs typeface="Graphik Semibold"/>
                <a:sym typeface="Graphik Semibold"/>
              </a:defRPr>
            </a:lvl3pPr>
            <a:lvl4pPr algn="ctr" defTabSz="825500">
              <a:lnSpc>
                <a:spcPct val="100000"/>
              </a:lnSpc>
              <a:spcBef>
                <a:spcPts val="0"/>
              </a:spcBef>
              <a:defRPr spc="-44">
                <a:latin typeface="Graphik Semibold"/>
                <a:ea typeface="Graphik Semibold"/>
                <a:cs typeface="Graphik Semibold"/>
                <a:sym typeface="Graphik Semibold"/>
              </a:defRPr>
            </a:lvl4pPr>
            <a:lvl5pPr algn="ctr" defTabSz="825500">
              <a:lnSpc>
                <a:spcPct val="100000"/>
              </a:lnSpc>
              <a:spcBef>
                <a:spcPts val="0"/>
              </a:spcBef>
              <a:defRPr spc="-44">
                <a:latin typeface="Graphik Semibold"/>
                <a:ea typeface="Graphik Semibold"/>
                <a:cs typeface="Graphik Semibold"/>
                <a:sym typeface="Graphik Semibold"/>
              </a:defRPr>
            </a:lvl5pPr>
          </a:lstStyle>
          <a:p>
            <a:r>
              <a:t>Slide Subtitle</a:t>
            </a:r>
          </a:p>
          <a:p>
            <a:pPr lvl="1"/>
            <a:endParaRPr/>
          </a:p>
          <a:p>
            <a:pPr lvl="2"/>
            <a:endParaRPr/>
          </a:p>
          <a:p>
            <a:pPr lvl="3"/>
            <a:endParaRPr/>
          </a:p>
          <a:p>
            <a:pPr lvl="4"/>
            <a:endParaRPr/>
          </a:p>
        </p:txBody>
      </p:sp>
      <p:sp>
        <p:nvSpPr>
          <p:cNvPr id="83" name="Body Level One…"/>
          <p:cNvSpPr txBox="1">
            <a:spLocks noGrp="1"/>
          </p:cNvSpPr>
          <p:nvPr>
            <p:ph type="body" sz="half" idx="21" hasCustomPrompt="1"/>
          </p:nvPr>
        </p:nvSpPr>
        <p:spPr>
          <a:xfrm>
            <a:off x="1219199" y="4023221"/>
            <a:ext cx="9757571" cy="8384680"/>
          </a:xfrm>
          <a:prstGeom prst="rect">
            <a:avLst/>
          </a:prstGeom>
        </p:spPr>
        <p:txBody>
          <a:bodyPr/>
          <a:lstStyle/>
          <a:p>
            <a:r>
              <a:t>Slide bullet text</a:t>
            </a:r>
          </a:p>
        </p:txBody>
      </p:sp>
      <p:sp>
        <p:nvSpPr>
          <p:cNvPr id="84" name="Slide Number"/>
          <p:cNvSpPr txBox="1">
            <a:spLocks noGrp="1"/>
          </p:cNvSpPr>
          <p:nvPr>
            <p:ph type="sldNum" sz="quarter" idx="2"/>
          </p:nvPr>
        </p:nvSpPr>
        <p:spPr>
          <a:xfrm>
            <a:off x="1200403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19200" y="3242269"/>
            <a:ext cx="21945600" cy="6604002"/>
          </a:xfrm>
          <a:prstGeom prst="rect">
            <a:avLst/>
          </a:prstGeom>
        </p:spPr>
        <p:txBody>
          <a:bodyPr anchor="ctr"/>
          <a:lstStyle>
            <a:lvl1pPr>
              <a:defRPr sz="12800" spc="0"/>
            </a:lvl1pPr>
          </a:lstStyle>
          <a:p>
            <a:r>
              <a:t>Section Title</a:t>
            </a:r>
          </a:p>
        </p:txBody>
      </p:sp>
      <p:sp>
        <p:nvSpPr>
          <p:cNvPr id="92" name="Slide Number"/>
          <p:cNvSpPr txBox="1">
            <a:spLocks noGrp="1"/>
          </p:cNvSpPr>
          <p:nvPr>
            <p:ph type="sldNum" sz="quarter" idx="2"/>
          </p:nvPr>
        </p:nvSpPr>
        <p:spPr>
          <a:xfrm>
            <a:off x="1200149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prstGeom prst="rect">
            <a:avLst/>
          </a:prstGeom>
        </p:spPr>
        <p:txBody>
          <a:bodyPr/>
          <a:lstStyle/>
          <a:p>
            <a:r>
              <a:t>Slide Title</a:t>
            </a:r>
          </a:p>
        </p:txBody>
      </p:sp>
      <p:sp>
        <p:nvSpPr>
          <p:cNvPr id="100" name="Body Level One…"/>
          <p:cNvSpPr txBox="1">
            <a:spLocks noGrp="1"/>
          </p:cNvSpPr>
          <p:nvPr>
            <p:ph type="body" sz="quarter" idx="1" hasCustomPrompt="1"/>
          </p:nvPr>
        </p:nvSpPr>
        <p:spPr>
          <a:xfrm>
            <a:off x="1219200" y="2384648"/>
            <a:ext cx="21945602" cy="832614"/>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algn="ctr" defTabSz="825500">
              <a:lnSpc>
                <a:spcPct val="100000"/>
              </a:lnSpc>
              <a:spcBef>
                <a:spcPts val="0"/>
              </a:spcBef>
              <a:defRPr spc="-44">
                <a:latin typeface="Graphik Semibold"/>
                <a:ea typeface="Graphik Semibold"/>
                <a:cs typeface="Graphik Semibold"/>
                <a:sym typeface="Graphik Semibold"/>
              </a:defRPr>
            </a:lvl2pPr>
            <a:lvl3pPr algn="ctr" defTabSz="825500">
              <a:lnSpc>
                <a:spcPct val="100000"/>
              </a:lnSpc>
              <a:spcBef>
                <a:spcPts val="0"/>
              </a:spcBef>
              <a:defRPr spc="-44">
                <a:latin typeface="Graphik Semibold"/>
                <a:ea typeface="Graphik Semibold"/>
                <a:cs typeface="Graphik Semibold"/>
                <a:sym typeface="Graphik Semibold"/>
              </a:defRPr>
            </a:lvl3pPr>
            <a:lvl4pPr algn="ctr" defTabSz="825500">
              <a:lnSpc>
                <a:spcPct val="100000"/>
              </a:lnSpc>
              <a:spcBef>
                <a:spcPts val="0"/>
              </a:spcBef>
              <a:defRPr spc="-44">
                <a:latin typeface="Graphik Semibold"/>
                <a:ea typeface="Graphik Semibold"/>
                <a:cs typeface="Graphik Semibold"/>
                <a:sym typeface="Graphik Semibold"/>
              </a:defRPr>
            </a:lvl4pPr>
            <a:lvl5pPr algn="ctr" defTabSz="825500">
              <a:lnSpc>
                <a:spcPct val="100000"/>
              </a:lnSpc>
              <a:spcBef>
                <a:spcPts val="0"/>
              </a:spcBef>
              <a:defRPr spc="-44">
                <a:latin typeface="Graphik Semibold"/>
                <a:ea typeface="Graphik Semibold"/>
                <a:cs typeface="Graphik Semibold"/>
                <a:sym typeface="Graphik Semibold"/>
              </a:defRPr>
            </a:lvl5pPr>
          </a:lstStyle>
          <a:p>
            <a:r>
              <a:t>Slide Subtitle</a:t>
            </a:r>
          </a:p>
          <a:p>
            <a:pPr lvl="1"/>
            <a:endParaRPr/>
          </a:p>
          <a:p>
            <a:pPr lvl="2"/>
            <a:endParaRPr/>
          </a:p>
          <a:p>
            <a:pPr lvl="3"/>
            <a:endParaRPr/>
          </a:p>
          <a:p>
            <a:pPr lvl="4"/>
            <a:endParaRPr/>
          </a:p>
        </p:txBody>
      </p:sp>
      <p:sp>
        <p:nvSpPr>
          <p:cNvPr id="101" name="Slide Number"/>
          <p:cNvSpPr txBox="1">
            <a:spLocks noGrp="1"/>
          </p:cNvSpPr>
          <p:nvPr>
            <p:ph type="sldNum" sz="quarter" idx="2"/>
          </p:nvPr>
        </p:nvSpPr>
        <p:spPr>
          <a:xfrm>
            <a:off x="1200149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prstGeom prst="rect">
            <a:avLst/>
          </a:prstGeom>
        </p:spPr>
        <p:txBody>
          <a:bodyPr/>
          <a:lstStyle/>
          <a:p>
            <a:r>
              <a:t>Agenda Title</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0" defTabSz="825500">
              <a:lnSpc>
                <a:spcPct val="100000"/>
              </a:lnSpc>
              <a:buSzTx/>
              <a:buNone/>
              <a:defRPr sz="6800" spc="-136">
                <a:latin typeface="Canela Deck Regular"/>
                <a:ea typeface="Canela Deck Regular"/>
                <a:cs typeface="Canela Deck Regular"/>
                <a:sym typeface="Canela Deck Regular"/>
              </a:defRPr>
            </a:lvl2pPr>
            <a:lvl3pPr marL="0" indent="0" defTabSz="825500">
              <a:lnSpc>
                <a:spcPct val="100000"/>
              </a:lnSpc>
              <a:buSzTx/>
              <a:buNone/>
              <a:defRPr sz="6800" spc="-136">
                <a:latin typeface="Canela Deck Regular"/>
                <a:ea typeface="Canela Deck Regular"/>
                <a:cs typeface="Canela Deck Regular"/>
                <a:sym typeface="Canela Deck Regular"/>
              </a:defRPr>
            </a:lvl3pPr>
            <a:lvl4pPr marL="0" indent="0" defTabSz="825500">
              <a:lnSpc>
                <a:spcPct val="100000"/>
              </a:lnSpc>
              <a:buSzTx/>
              <a:buNone/>
              <a:defRPr sz="6800" spc="-136">
                <a:latin typeface="Canela Deck Regular"/>
                <a:ea typeface="Canela Deck Regular"/>
                <a:cs typeface="Canela Deck Regular"/>
                <a:sym typeface="Canela Deck Regular"/>
              </a:defRPr>
            </a:lvl4pPr>
            <a:lvl5pPr marL="0" indent="0" defTabSz="825500">
              <a:lnSpc>
                <a:spcPct val="100000"/>
              </a:lnSpc>
              <a:buSzTx/>
              <a:buNone/>
              <a:defRPr sz="6800" spc="-136">
                <a:latin typeface="Canela Deck Regular"/>
                <a:ea typeface="Canela Deck Regular"/>
                <a:cs typeface="Canela Deck Regular"/>
                <a:sym typeface="Canela Deck Regular"/>
              </a:defRPr>
            </a:lvl5pPr>
          </a:lstStyle>
          <a:p>
            <a:r>
              <a:t>Agenda Topics</a:t>
            </a:r>
          </a:p>
          <a:p>
            <a:pPr lvl="1"/>
            <a:endParaRPr/>
          </a:p>
          <a:p>
            <a:pPr lvl="2"/>
            <a:endParaRPr/>
          </a:p>
          <a:p>
            <a:pPr lvl="3"/>
            <a:endParaRPr/>
          </a:p>
          <a:p>
            <a:pPr lvl="4"/>
            <a:endParaRPr/>
          </a:p>
        </p:txBody>
      </p:sp>
      <p:sp>
        <p:nvSpPr>
          <p:cNvPr id="110" name="Agenda Subtitle"/>
          <p:cNvSpPr txBox="1">
            <a:spLocks noGrp="1"/>
          </p:cNvSpPr>
          <p:nvPr>
            <p:ph type="body" sz="quarter" idx="21" hasCustomPrompt="1"/>
          </p:nvPr>
        </p:nvSpPr>
        <p:spPr>
          <a:xfrm>
            <a:off x="1219200" y="2387114"/>
            <a:ext cx="21945602" cy="832614"/>
          </a:xfrm>
          <a:prstGeom prst="rect">
            <a:avLst/>
          </a:prstGeom>
        </p:spPr>
        <p:txBody>
          <a:bodyPr/>
          <a:lstStyle>
            <a:lvl1pPr marL="0" indent="0" algn="ctr" defTabSz="825500">
              <a:lnSpc>
                <a:spcPct val="100000"/>
              </a:lnSpc>
              <a:spcBef>
                <a:spcPts val="0"/>
              </a:spcBef>
              <a:buSzTx/>
              <a:buNone/>
              <a:defRPr spc="-100">
                <a:latin typeface="Graphik Semibold"/>
                <a:ea typeface="Graphik Semibold"/>
                <a:cs typeface="Graphik Semibold"/>
                <a:sym typeface="Graphik Semibold"/>
              </a:defRPr>
            </a:lvl1pPr>
          </a:lstStyle>
          <a:p>
            <a:r>
              <a:t>Agenda Subtitle</a:t>
            </a:r>
          </a:p>
        </p:txBody>
      </p:sp>
      <p:sp>
        <p:nvSpPr>
          <p:cNvPr id="111" name="Slide Number"/>
          <p:cNvSpPr txBox="1">
            <a:spLocks noGrp="1"/>
          </p:cNvSpPr>
          <p:nvPr>
            <p:ph type="sldNum" sz="quarter" idx="2"/>
          </p:nvPr>
        </p:nvSpPr>
        <p:spPr>
          <a:xfrm>
            <a:off x="1200149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0" algn="ctr" defTabSz="2438400">
              <a:lnSpc>
                <a:spcPct val="80000"/>
              </a:lnSpc>
              <a:spcBef>
                <a:spcPts val="0"/>
              </a:spcBef>
              <a:buSzTx/>
              <a:buNone/>
              <a:defRPr sz="12800">
                <a:latin typeface="Canela Regular"/>
                <a:ea typeface="Canela Regular"/>
                <a:cs typeface="Canela Regular"/>
                <a:sym typeface="Canela Regular"/>
              </a:defRPr>
            </a:lvl2pPr>
            <a:lvl3pPr marL="0" indent="0" algn="ctr" defTabSz="2438400">
              <a:lnSpc>
                <a:spcPct val="80000"/>
              </a:lnSpc>
              <a:spcBef>
                <a:spcPts val="0"/>
              </a:spcBef>
              <a:buSzTx/>
              <a:buNone/>
              <a:defRPr sz="12800">
                <a:latin typeface="Canela Regular"/>
                <a:ea typeface="Canela Regular"/>
                <a:cs typeface="Canela Regular"/>
                <a:sym typeface="Canela Regular"/>
              </a:defRPr>
            </a:lvl3pPr>
            <a:lvl4pPr marL="0" indent="0" algn="ctr" defTabSz="2438400">
              <a:lnSpc>
                <a:spcPct val="80000"/>
              </a:lnSpc>
              <a:spcBef>
                <a:spcPts val="0"/>
              </a:spcBef>
              <a:buSzTx/>
              <a:buNone/>
              <a:defRPr sz="12800">
                <a:latin typeface="Canela Regular"/>
                <a:ea typeface="Canela Regular"/>
                <a:cs typeface="Canela Regular"/>
                <a:sym typeface="Canela Regular"/>
              </a:defRPr>
            </a:lvl4pPr>
            <a:lvl5pPr marL="0" indent="0" algn="ctr" defTabSz="2438400">
              <a:lnSpc>
                <a:spcPct val="80000"/>
              </a:lnSpc>
              <a:spcBef>
                <a:spcPts val="0"/>
              </a:spcBef>
              <a:buSzTx/>
              <a:buNone/>
              <a:defRPr sz="12800">
                <a:latin typeface="Canela Regular"/>
                <a:ea typeface="Canela Regular"/>
                <a:cs typeface="Canela Regular"/>
                <a:sym typeface="Canela Regular"/>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sz="quarter" idx="1" hasCustomPrompt="1"/>
          </p:nvPr>
        </p:nvSpPr>
        <p:spPr>
          <a:xfrm>
            <a:off x="1219200" y="8462239"/>
            <a:ext cx="21945602" cy="832614"/>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algn="ctr" defTabSz="825500">
              <a:lnSpc>
                <a:spcPct val="100000"/>
              </a:lnSpc>
              <a:spcBef>
                <a:spcPts val="0"/>
              </a:spcBef>
              <a:defRPr spc="-44">
                <a:latin typeface="Graphik Semibold"/>
                <a:ea typeface="Graphik Semibold"/>
                <a:cs typeface="Graphik Semibold"/>
                <a:sym typeface="Graphik Semibold"/>
              </a:defRPr>
            </a:lvl2pPr>
            <a:lvl3pPr algn="ctr" defTabSz="825500">
              <a:lnSpc>
                <a:spcPct val="100000"/>
              </a:lnSpc>
              <a:spcBef>
                <a:spcPts val="0"/>
              </a:spcBef>
              <a:defRPr spc="-44">
                <a:latin typeface="Graphik Semibold"/>
                <a:ea typeface="Graphik Semibold"/>
                <a:cs typeface="Graphik Semibold"/>
                <a:sym typeface="Graphik Semibold"/>
              </a:defRPr>
            </a:lvl3pPr>
            <a:lvl4pPr algn="ctr" defTabSz="825500">
              <a:lnSpc>
                <a:spcPct val="100000"/>
              </a:lnSpc>
              <a:spcBef>
                <a:spcPts val="0"/>
              </a:spcBef>
              <a:defRPr spc="-44">
                <a:latin typeface="Graphik Semibold"/>
                <a:ea typeface="Graphik Semibold"/>
                <a:cs typeface="Graphik Semibold"/>
                <a:sym typeface="Graphik Semibold"/>
              </a:defRPr>
            </a:lvl4pPr>
            <a:lvl5pPr algn="ctr" defTabSz="825500">
              <a:lnSpc>
                <a:spcPct val="100000"/>
              </a:lnSpc>
              <a:spcBef>
                <a:spcPts val="0"/>
              </a:spcBef>
              <a:defRPr spc="-44">
                <a:latin typeface="Graphik Semibold"/>
                <a:ea typeface="Graphik Semibold"/>
                <a:cs typeface="Graphik Semibold"/>
                <a:sym typeface="Graphik Semibold"/>
              </a:defRPr>
            </a:lvl5pPr>
          </a:lstStyle>
          <a:p>
            <a:r>
              <a:t>Fact information</a:t>
            </a:r>
          </a:p>
          <a:p>
            <a:pPr lvl="1"/>
            <a:endParaRPr/>
          </a:p>
          <a:p>
            <a:pPr lvl="2"/>
            <a:endParaRPr/>
          </a:p>
          <a:p>
            <a:pPr lvl="3"/>
            <a:endParaRPr/>
          </a:p>
          <a:p>
            <a:pPr lvl="4"/>
            <a:endParaRPr/>
          </a:p>
        </p:txBody>
      </p:sp>
      <p:sp>
        <p:nvSpPr>
          <p:cNvPr id="127" name="Body Level One…"/>
          <p:cNvSpPr txBox="1">
            <a:spLocks noGrp="1"/>
          </p:cNvSpPr>
          <p:nvPr>
            <p:ph type="body" sz="half" idx="21" hasCustomPrompt="1"/>
          </p:nvPr>
        </p:nvSpPr>
        <p:spPr>
          <a:xfrm>
            <a:off x="1219200" y="4214483"/>
            <a:ext cx="21945600" cy="4269709"/>
          </a:xfrm>
          <a:prstGeom prst="rect">
            <a:avLst/>
          </a:prstGeom>
        </p:spPr>
        <p:txBody>
          <a:bodyPr anchor="b"/>
          <a:lstStyle/>
          <a:p>
            <a:pPr marL="0" lvl="4" indent="1097280" algn="ctr" defTabSz="975360">
              <a:lnSpc>
                <a:spcPct val="80000"/>
              </a:lnSpc>
              <a:spcBef>
                <a:spcPts val="0"/>
              </a:spcBef>
              <a:buSzTx/>
              <a:buNone/>
              <a:defRPr sz="8960">
                <a:latin typeface="Canela Bold"/>
                <a:ea typeface="Canela Bold"/>
                <a:cs typeface="Canela Bold"/>
                <a:sym typeface="Canela Bold"/>
              </a:defRPr>
            </a:pPr>
            <a:r>
              <a:t>100%
</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Body Level One…"/>
          <p:cNvSpPr txBox="1">
            <a:spLocks noGrp="1"/>
          </p:cNvSpPr>
          <p:nvPr>
            <p:ph type="body" sz="quarter" idx="1" hasCustomPrompt="1"/>
          </p:nvPr>
        </p:nvSpPr>
        <p:spPr>
          <a:xfrm>
            <a:off x="1219200" y="11100052"/>
            <a:ext cx="21945602" cy="832614"/>
          </a:xfrm>
          <a:prstGeom prst="rect">
            <a:avLst/>
          </a:prstGeom>
        </p:spPr>
        <p:txBody>
          <a:bodyPr anchor="ct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algn="ctr" defTabSz="825500">
              <a:lnSpc>
                <a:spcPct val="100000"/>
              </a:lnSpc>
              <a:spcBef>
                <a:spcPts val="0"/>
              </a:spcBef>
              <a:defRPr spc="-44">
                <a:latin typeface="Graphik Semibold"/>
                <a:ea typeface="Graphik Semibold"/>
                <a:cs typeface="Graphik Semibold"/>
                <a:sym typeface="Graphik Semibold"/>
              </a:defRPr>
            </a:lvl2pPr>
            <a:lvl3pPr algn="ctr" defTabSz="825500">
              <a:lnSpc>
                <a:spcPct val="100000"/>
              </a:lnSpc>
              <a:spcBef>
                <a:spcPts val="0"/>
              </a:spcBef>
              <a:defRPr spc="-44">
                <a:latin typeface="Graphik Semibold"/>
                <a:ea typeface="Graphik Semibold"/>
                <a:cs typeface="Graphik Semibold"/>
                <a:sym typeface="Graphik Semibold"/>
              </a:defRPr>
            </a:lvl3pPr>
            <a:lvl4pPr algn="ctr" defTabSz="825500">
              <a:lnSpc>
                <a:spcPct val="100000"/>
              </a:lnSpc>
              <a:spcBef>
                <a:spcPts val="0"/>
              </a:spcBef>
              <a:defRPr spc="-44">
                <a:latin typeface="Graphik Semibold"/>
                <a:ea typeface="Graphik Semibold"/>
                <a:cs typeface="Graphik Semibold"/>
                <a:sym typeface="Graphik Semibold"/>
              </a:defRPr>
            </a:lvl4pPr>
            <a:lvl5pPr algn="ctr" defTabSz="825500">
              <a:lnSpc>
                <a:spcPct val="100000"/>
              </a:lnSpc>
              <a:spcBef>
                <a:spcPts val="0"/>
              </a:spcBef>
              <a:defRPr spc="-44">
                <a:latin typeface="Graphik Semibold"/>
                <a:ea typeface="Graphik Semibold"/>
                <a:cs typeface="Graphik Semibold"/>
                <a:sym typeface="Graphik Semibold"/>
              </a:defRPr>
            </a:lvl5pPr>
          </a:lstStyle>
          <a:p>
            <a:r>
              <a:t>Attribution</a:t>
            </a:r>
          </a:p>
          <a:p>
            <a:pPr lvl="1"/>
            <a:endParaRPr/>
          </a:p>
          <a:p>
            <a:pPr lvl="2"/>
            <a:endParaRPr/>
          </a:p>
          <a:p>
            <a:pPr lvl="3"/>
            <a:endParaRPr/>
          </a:p>
          <a:p>
            <a:pPr lvl="4"/>
            <a:endParaRPr/>
          </a:p>
        </p:txBody>
      </p:sp>
      <p:sp>
        <p:nvSpPr>
          <p:cNvPr id="136" name="Body Level One…"/>
          <p:cNvSpPr txBox="1">
            <a:spLocks noGrp="1"/>
          </p:cNvSpPr>
          <p:nvPr>
            <p:ph type="body" sz="half" idx="21" hasCustomPrompt="1"/>
          </p:nvPr>
        </p:nvSpPr>
        <p:spPr>
          <a:xfrm>
            <a:off x="1219200" y="4178300"/>
            <a:ext cx="21945600" cy="4416425"/>
          </a:xfrm>
          <a:prstGeom prst="rect">
            <a:avLst/>
          </a:prstGeom>
        </p:spPr>
        <p:txBody>
          <a:bodyPr anchor="ctr"/>
          <a:lstStyle/>
          <a:p>
            <a:pPr marL="0" lvl="4" indent="1700783" algn="ctr" defTabSz="1511808">
              <a:lnSpc>
                <a:spcPct val="80000"/>
              </a:lnSpc>
              <a:spcBef>
                <a:spcPts val="0"/>
              </a:spcBef>
              <a:buSzTx/>
              <a:buNone/>
              <a:defRPr sz="5208">
                <a:latin typeface="Canela Bold"/>
                <a:ea typeface="Canela Bold"/>
                <a:cs typeface="Canela Bold"/>
                <a:sym typeface="Canela Bold"/>
              </a:defRPr>
            </a:pPr>
            <a:r>
              <a:t>“Notable Quote”
</a:t>
            </a:r>
          </a:p>
        </p:txBody>
      </p:sp>
      <p:sp>
        <p:nvSpPr>
          <p:cNvPr id="137" name="Slide Number"/>
          <p:cNvSpPr txBox="1">
            <a:spLocks noGrp="1"/>
          </p:cNvSpPr>
          <p:nvPr>
            <p:ph type="sldNum" sz="quarter" idx="2"/>
          </p:nvPr>
        </p:nvSpPr>
        <p:spPr>
          <a:xfrm>
            <a:off x="1200149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Sea against sky at sunset 2"/>
          <p:cNvSpPr>
            <a:spLocks noGrp="1"/>
          </p:cNvSpPr>
          <p:nvPr>
            <p:ph type="pic" sz="quarter" idx="21"/>
          </p:nvPr>
        </p:nvSpPr>
        <p:spPr>
          <a:xfrm>
            <a:off x="15744825" y="5581751"/>
            <a:ext cx="7365408" cy="8280402"/>
          </a:xfrm>
          <a:prstGeom prst="rect">
            <a:avLst/>
          </a:prstGeom>
        </p:spPr>
        <p:txBody>
          <a:bodyPr lIns="91439" tIns="45719" rIns="91439" bIns="45719">
            <a:noAutofit/>
          </a:bodyPr>
          <a:lstStyle/>
          <a:p>
            <a:endParaRPr/>
          </a:p>
        </p:txBody>
      </p:sp>
      <p:sp>
        <p:nvSpPr>
          <p:cNvPr id="145" name="Sea against sky at sunset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Beach and sea at sunset"/>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200149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each and sea at sunset"/>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200149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xfrm>
            <a:off x="12001499" y="12700001"/>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5"/>
            <a:ext cx="18288000" cy="4775200"/>
          </a:xfrm>
        </p:spPr>
        <p:txBody>
          <a:bodyPr anchor="b"/>
          <a:lstStyle>
            <a:lvl1pPr algn="ctr">
              <a:defRPr sz="12000"/>
            </a:lvl1pPr>
          </a:lstStyle>
          <a:p>
            <a:r>
              <a:rPr lang="en-US"/>
              <a:t>Click to edit Master title style</a:t>
            </a:r>
            <a:endParaRPr lang="en-IN"/>
          </a:p>
        </p:txBody>
      </p:sp>
      <p:sp>
        <p:nvSpPr>
          <p:cNvPr id="3" name="Subtitle 2"/>
          <p:cNvSpPr>
            <a:spLocks noGrp="1"/>
          </p:cNvSpPr>
          <p:nvPr>
            <p:ph type="subTitle" idx="1"/>
          </p:nvPr>
        </p:nvSpPr>
        <p:spPr>
          <a:xfrm>
            <a:off x="3048000" y="7204075"/>
            <a:ext cx="18288000" cy="3311525"/>
          </a:xfrm>
        </p:spPr>
        <p:txBody>
          <a:bodyPr/>
          <a:lstStyle>
            <a:lvl1pPr marL="0" indent="0" algn="ctr">
              <a:buNone/>
              <a:defRPr sz="4800"/>
            </a:lvl1pPr>
            <a:lvl2pPr marL="914411" indent="0" algn="ctr">
              <a:buNone/>
              <a:defRPr sz="4000"/>
            </a:lvl2pPr>
            <a:lvl3pPr marL="1828823" indent="0" algn="ctr">
              <a:buNone/>
              <a:defRPr sz="3600"/>
            </a:lvl3pPr>
            <a:lvl4pPr marL="2743234" indent="0" algn="ctr">
              <a:buNone/>
              <a:defRPr sz="3200"/>
            </a:lvl4pPr>
            <a:lvl5pPr marL="3657646" indent="0" algn="ctr">
              <a:buNone/>
              <a:defRPr sz="3200"/>
            </a:lvl5pPr>
            <a:lvl6pPr marL="4572057" indent="0" algn="ctr">
              <a:buNone/>
              <a:defRPr sz="3200"/>
            </a:lvl6pPr>
            <a:lvl7pPr marL="5486469" indent="0" algn="ctr">
              <a:buNone/>
              <a:defRPr sz="3200"/>
            </a:lvl7pPr>
            <a:lvl8pPr marL="6400880" indent="0" algn="ctr">
              <a:buNone/>
              <a:defRPr sz="3200"/>
            </a:lvl8pPr>
            <a:lvl9pPr marL="7315291" indent="0" algn="ctr">
              <a:buNone/>
              <a:defRPr sz="32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a:defRPr/>
            </a:pPr>
            <a:fld id="{D0C8728C-B85D-4111-AACA-0C505AAFC337}" type="datetime1">
              <a:rPr lang="en-IN"/>
              <a:pPr>
                <a:defRPr/>
              </a:pPr>
              <a:t>06-05-2026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18DE28AD-ECDF-4EE5-83BC-F800A3D54B84}" type="slidenum">
              <a:rPr lang="en-IN"/>
              <a:pPr>
                <a:defRPr/>
              </a:pPr>
              <a:t>‹#›</a:t>
            </a:fld>
            <a:endParaRPr lang="en-IN"/>
          </a:p>
        </p:txBody>
      </p:sp>
    </p:spTree>
    <p:extLst>
      <p:ext uri="{BB962C8B-B14F-4D97-AF65-F5344CB8AC3E}">
        <p14:creationId xmlns:p14="http://schemas.microsoft.com/office/powerpoint/2010/main" val="1442470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55D2502E-F509-431C-85B0-79963D4C242B}" type="datetime1">
              <a:rPr lang="en-IN"/>
              <a:pPr>
                <a:defRPr/>
              </a:pPr>
              <a:t>06-05-2026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F33D1194-74E1-4059-95D1-666D575938E1}" type="slidenum">
              <a:rPr lang="en-IN"/>
              <a:pPr>
                <a:defRPr/>
              </a:pPr>
              <a:t>‹#›</a:t>
            </a:fld>
            <a:endParaRPr lang="en-IN"/>
          </a:p>
        </p:txBody>
      </p:sp>
    </p:spTree>
    <p:extLst>
      <p:ext uri="{BB962C8B-B14F-4D97-AF65-F5344CB8AC3E}">
        <p14:creationId xmlns:p14="http://schemas.microsoft.com/office/powerpoint/2010/main" val="22564003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1" y="3419479"/>
            <a:ext cx="21031200" cy="5705475"/>
          </a:xfrm>
        </p:spPr>
        <p:txBody>
          <a:bodyPr anchor="b"/>
          <a:lstStyle>
            <a:lvl1pPr>
              <a:defRPr sz="12000"/>
            </a:lvl1pPr>
          </a:lstStyle>
          <a:p>
            <a:r>
              <a:rPr lang="en-US"/>
              <a:t>Click to edit Master title style</a:t>
            </a:r>
            <a:endParaRPr lang="en-IN"/>
          </a:p>
        </p:txBody>
      </p:sp>
      <p:sp>
        <p:nvSpPr>
          <p:cNvPr id="3" name="Text Placeholder 2"/>
          <p:cNvSpPr>
            <a:spLocks noGrp="1"/>
          </p:cNvSpPr>
          <p:nvPr>
            <p:ph type="body" idx="1"/>
          </p:nvPr>
        </p:nvSpPr>
        <p:spPr>
          <a:xfrm>
            <a:off x="1663701" y="9178928"/>
            <a:ext cx="21031200" cy="3000373"/>
          </a:xfrm>
        </p:spPr>
        <p:txBody>
          <a:bodyPr/>
          <a:lstStyle>
            <a:lvl1pPr marL="0" indent="0">
              <a:buNone/>
              <a:defRPr sz="4800">
                <a:solidFill>
                  <a:schemeClr val="tx1">
                    <a:tint val="75000"/>
                  </a:schemeClr>
                </a:solidFill>
              </a:defRPr>
            </a:lvl1pPr>
            <a:lvl2pPr marL="914411" indent="0">
              <a:buNone/>
              <a:defRPr sz="4000">
                <a:solidFill>
                  <a:schemeClr val="tx1">
                    <a:tint val="75000"/>
                  </a:schemeClr>
                </a:solidFill>
              </a:defRPr>
            </a:lvl2pPr>
            <a:lvl3pPr marL="1828823" indent="0">
              <a:buNone/>
              <a:defRPr sz="3600">
                <a:solidFill>
                  <a:schemeClr val="tx1">
                    <a:tint val="75000"/>
                  </a:schemeClr>
                </a:solidFill>
              </a:defRPr>
            </a:lvl3pPr>
            <a:lvl4pPr marL="2743234" indent="0">
              <a:buNone/>
              <a:defRPr sz="3200">
                <a:solidFill>
                  <a:schemeClr val="tx1">
                    <a:tint val="75000"/>
                  </a:schemeClr>
                </a:solidFill>
              </a:defRPr>
            </a:lvl4pPr>
            <a:lvl5pPr marL="3657646" indent="0">
              <a:buNone/>
              <a:defRPr sz="3200">
                <a:solidFill>
                  <a:schemeClr val="tx1">
                    <a:tint val="75000"/>
                  </a:schemeClr>
                </a:solidFill>
              </a:defRPr>
            </a:lvl5pPr>
            <a:lvl6pPr marL="4572057" indent="0">
              <a:buNone/>
              <a:defRPr sz="3200">
                <a:solidFill>
                  <a:schemeClr val="tx1">
                    <a:tint val="75000"/>
                  </a:schemeClr>
                </a:solidFill>
              </a:defRPr>
            </a:lvl6pPr>
            <a:lvl7pPr marL="5486469" indent="0">
              <a:buNone/>
              <a:defRPr sz="3200">
                <a:solidFill>
                  <a:schemeClr val="tx1">
                    <a:tint val="75000"/>
                  </a:schemeClr>
                </a:solidFill>
              </a:defRPr>
            </a:lvl7pPr>
            <a:lvl8pPr marL="6400880" indent="0">
              <a:buNone/>
              <a:defRPr sz="3200">
                <a:solidFill>
                  <a:schemeClr val="tx1">
                    <a:tint val="75000"/>
                  </a:schemeClr>
                </a:solidFill>
              </a:defRPr>
            </a:lvl8pPr>
            <a:lvl9pPr marL="7315291" indent="0">
              <a:buNone/>
              <a:defRPr sz="3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86971E9-C99D-4645-AD7A-16503E1E6192}" type="datetime1">
              <a:rPr lang="en-IN"/>
              <a:pPr>
                <a:defRPr/>
              </a:pPr>
              <a:t>06-05-2026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C293FA36-DD56-4454-8C62-91D4EC9652B6}" type="slidenum">
              <a:rPr lang="en-IN"/>
              <a:pPr>
                <a:defRPr/>
              </a:pPr>
              <a:t>‹#›</a:t>
            </a:fld>
            <a:endParaRPr lang="en-IN"/>
          </a:p>
        </p:txBody>
      </p:sp>
    </p:spTree>
    <p:extLst>
      <p:ext uri="{BB962C8B-B14F-4D97-AF65-F5344CB8AC3E}">
        <p14:creationId xmlns:p14="http://schemas.microsoft.com/office/powerpoint/2010/main" val="1534057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676400" y="3651251"/>
            <a:ext cx="10363200" cy="87026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12344400" y="3651251"/>
            <a:ext cx="10363200" cy="87026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8DD18338-7361-4BCB-B499-495756ED7D7A}" type="datetime1">
              <a:rPr lang="en-IN"/>
              <a:pPr>
                <a:defRPr/>
              </a:pPr>
              <a:t>06-05-2026</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BF678CA2-FBA3-4AB1-8EAA-85F7748A3C38}" type="slidenum">
              <a:rPr lang="en-IN"/>
              <a:pPr>
                <a:defRPr/>
              </a:pPr>
              <a:t>‹#›</a:t>
            </a:fld>
            <a:endParaRPr lang="en-IN"/>
          </a:p>
        </p:txBody>
      </p:sp>
    </p:spTree>
    <p:extLst>
      <p:ext uri="{BB962C8B-B14F-4D97-AF65-F5344CB8AC3E}">
        <p14:creationId xmlns:p14="http://schemas.microsoft.com/office/powerpoint/2010/main" val="24547554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5"/>
          </a:xfrm>
        </p:spPr>
        <p:txBody>
          <a:bodyPr/>
          <a:lstStyle/>
          <a:p>
            <a:r>
              <a:rPr lang="en-US"/>
              <a:t>Click to edit Master title style</a:t>
            </a:r>
            <a:endParaRPr lang="en-IN"/>
          </a:p>
        </p:txBody>
      </p:sp>
      <p:sp>
        <p:nvSpPr>
          <p:cNvPr id="3" name="Text Placeholder 2"/>
          <p:cNvSpPr>
            <a:spLocks noGrp="1"/>
          </p:cNvSpPr>
          <p:nvPr>
            <p:ph type="body" idx="1"/>
          </p:nvPr>
        </p:nvSpPr>
        <p:spPr>
          <a:xfrm>
            <a:off x="1679579" y="3362325"/>
            <a:ext cx="10315573" cy="1647824"/>
          </a:xfrm>
        </p:spPr>
        <p:txBody>
          <a:bodyPr anchor="b"/>
          <a:lstStyle>
            <a:lvl1pPr marL="0" indent="0">
              <a:buNone/>
              <a:defRPr sz="4800" b="1"/>
            </a:lvl1pPr>
            <a:lvl2pPr marL="914411" indent="0">
              <a:buNone/>
              <a:defRPr sz="4000" b="1"/>
            </a:lvl2pPr>
            <a:lvl3pPr marL="1828823" indent="0">
              <a:buNone/>
              <a:defRPr sz="3600" b="1"/>
            </a:lvl3pPr>
            <a:lvl4pPr marL="2743234" indent="0">
              <a:buNone/>
              <a:defRPr sz="3200" b="1"/>
            </a:lvl4pPr>
            <a:lvl5pPr marL="3657646" indent="0">
              <a:buNone/>
              <a:defRPr sz="3200" b="1"/>
            </a:lvl5pPr>
            <a:lvl6pPr marL="4572057" indent="0">
              <a:buNone/>
              <a:defRPr sz="3200" b="1"/>
            </a:lvl6pPr>
            <a:lvl7pPr marL="5486469" indent="0">
              <a:buNone/>
              <a:defRPr sz="3200" b="1"/>
            </a:lvl7pPr>
            <a:lvl8pPr marL="6400880" indent="0">
              <a:buNone/>
              <a:defRPr sz="3200" b="1"/>
            </a:lvl8pPr>
            <a:lvl9pPr marL="7315291" indent="0">
              <a:buNone/>
              <a:defRPr sz="3200" b="1"/>
            </a:lvl9pPr>
          </a:lstStyle>
          <a:p>
            <a:pPr lvl="0"/>
            <a:r>
              <a:rPr lang="en-US"/>
              <a:t>Click to edit Master text styles</a:t>
            </a:r>
          </a:p>
        </p:txBody>
      </p:sp>
      <p:sp>
        <p:nvSpPr>
          <p:cNvPr id="4" name="Content Placeholder 3"/>
          <p:cNvSpPr>
            <a:spLocks noGrp="1"/>
          </p:cNvSpPr>
          <p:nvPr>
            <p:ph sz="half" idx="2"/>
          </p:nvPr>
        </p:nvSpPr>
        <p:spPr>
          <a:xfrm>
            <a:off x="1679579" y="5010151"/>
            <a:ext cx="1031557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12344401" y="3362325"/>
            <a:ext cx="10366376" cy="1647824"/>
          </a:xfrm>
        </p:spPr>
        <p:txBody>
          <a:bodyPr anchor="b"/>
          <a:lstStyle>
            <a:lvl1pPr marL="0" indent="0">
              <a:buNone/>
              <a:defRPr sz="4800" b="1"/>
            </a:lvl1pPr>
            <a:lvl2pPr marL="914411" indent="0">
              <a:buNone/>
              <a:defRPr sz="4000" b="1"/>
            </a:lvl2pPr>
            <a:lvl3pPr marL="1828823" indent="0">
              <a:buNone/>
              <a:defRPr sz="3600" b="1"/>
            </a:lvl3pPr>
            <a:lvl4pPr marL="2743234" indent="0">
              <a:buNone/>
              <a:defRPr sz="3200" b="1"/>
            </a:lvl4pPr>
            <a:lvl5pPr marL="3657646" indent="0">
              <a:buNone/>
              <a:defRPr sz="3200" b="1"/>
            </a:lvl5pPr>
            <a:lvl6pPr marL="4572057" indent="0">
              <a:buNone/>
              <a:defRPr sz="3200" b="1"/>
            </a:lvl6pPr>
            <a:lvl7pPr marL="5486469" indent="0">
              <a:buNone/>
              <a:defRPr sz="3200" b="1"/>
            </a:lvl7pPr>
            <a:lvl8pPr marL="6400880" indent="0">
              <a:buNone/>
              <a:defRPr sz="3200" b="1"/>
            </a:lvl8pPr>
            <a:lvl9pPr marL="7315291"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344401" y="5010151"/>
            <a:ext cx="1036637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fld id="{B7777008-D0DE-4772-BE1B-7E36AFB8B1C4}" type="datetime1">
              <a:rPr lang="en-IN"/>
              <a:pPr>
                <a:defRPr/>
              </a:pPr>
              <a:t>06-05-2026</a:t>
            </a:fld>
            <a:endParaRPr lang="en-IN"/>
          </a:p>
        </p:txBody>
      </p:sp>
      <p:sp>
        <p:nvSpPr>
          <p:cNvPr id="8" name="Footer Placeholder 4"/>
          <p:cNvSpPr>
            <a:spLocks noGrp="1"/>
          </p:cNvSpPr>
          <p:nvPr>
            <p:ph type="ftr" sz="quarter" idx="11"/>
          </p:nvPr>
        </p:nvSpPr>
        <p:spPr/>
        <p:txBody>
          <a:bodyPr/>
          <a:lstStyle>
            <a:lvl1pPr>
              <a:defRPr/>
            </a:lvl1pPr>
          </a:lstStyle>
          <a:p>
            <a:pPr>
              <a:defRPr/>
            </a:pPr>
            <a:endParaRPr lang="en-IN"/>
          </a:p>
        </p:txBody>
      </p:sp>
      <p:sp>
        <p:nvSpPr>
          <p:cNvPr id="9" name="Slide Number Placeholder 5"/>
          <p:cNvSpPr>
            <a:spLocks noGrp="1"/>
          </p:cNvSpPr>
          <p:nvPr>
            <p:ph type="sldNum" sz="quarter" idx="12"/>
          </p:nvPr>
        </p:nvSpPr>
        <p:spPr/>
        <p:txBody>
          <a:bodyPr/>
          <a:lstStyle>
            <a:lvl1pPr>
              <a:defRPr/>
            </a:lvl1pPr>
          </a:lstStyle>
          <a:p>
            <a:pPr>
              <a:defRPr/>
            </a:pPr>
            <a:fld id="{4771D69C-AF89-4E4C-AE26-BC22C2A0B169}" type="slidenum">
              <a:rPr lang="en-IN"/>
              <a:pPr>
                <a:defRPr/>
              </a:pPr>
              <a:t>‹#›</a:t>
            </a:fld>
            <a:endParaRPr lang="en-IN"/>
          </a:p>
        </p:txBody>
      </p:sp>
    </p:spTree>
    <p:extLst>
      <p:ext uri="{BB962C8B-B14F-4D97-AF65-F5344CB8AC3E}">
        <p14:creationId xmlns:p14="http://schemas.microsoft.com/office/powerpoint/2010/main" val="32298725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9F062AF2-CA03-451C-9569-D611B6BBD5AC}" type="datetime1">
              <a:rPr lang="en-IN"/>
              <a:pPr>
                <a:defRPr/>
              </a:pPr>
              <a:t>06-05-2026</a:t>
            </a:fld>
            <a:endParaRPr lang="en-IN"/>
          </a:p>
        </p:txBody>
      </p:sp>
      <p:sp>
        <p:nvSpPr>
          <p:cNvPr id="4" name="Footer Placeholder 4"/>
          <p:cNvSpPr>
            <a:spLocks noGrp="1"/>
          </p:cNvSpPr>
          <p:nvPr>
            <p:ph type="ftr" sz="quarter" idx="11"/>
          </p:nvPr>
        </p:nvSpPr>
        <p:spPr/>
        <p:txBody>
          <a:bodyPr/>
          <a:lstStyle>
            <a:lvl1pPr>
              <a:defRPr/>
            </a:lvl1pPr>
          </a:lstStyle>
          <a:p>
            <a:pPr>
              <a:defRPr/>
            </a:pPr>
            <a:endParaRPr lang="en-IN"/>
          </a:p>
        </p:txBody>
      </p:sp>
      <p:sp>
        <p:nvSpPr>
          <p:cNvPr id="5" name="Slide Number Placeholder 5"/>
          <p:cNvSpPr>
            <a:spLocks noGrp="1"/>
          </p:cNvSpPr>
          <p:nvPr>
            <p:ph type="sldNum" sz="quarter" idx="12"/>
          </p:nvPr>
        </p:nvSpPr>
        <p:spPr/>
        <p:txBody>
          <a:bodyPr/>
          <a:lstStyle>
            <a:lvl1pPr>
              <a:defRPr/>
            </a:lvl1pPr>
          </a:lstStyle>
          <a:p>
            <a:pPr>
              <a:defRPr/>
            </a:pPr>
            <a:fld id="{387FB38F-E62A-4DBD-A86D-6F50D300F020}" type="slidenum">
              <a:rPr lang="en-IN"/>
              <a:pPr>
                <a:defRPr/>
              </a:pPr>
              <a:t>‹#›</a:t>
            </a:fld>
            <a:endParaRPr lang="en-IN"/>
          </a:p>
        </p:txBody>
      </p:sp>
    </p:spTree>
    <p:extLst>
      <p:ext uri="{BB962C8B-B14F-4D97-AF65-F5344CB8AC3E}">
        <p14:creationId xmlns:p14="http://schemas.microsoft.com/office/powerpoint/2010/main" val="26215118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BCCFBBD-AF5C-453F-98E5-EB0D7F32E7E2}" type="datetime1">
              <a:rPr lang="en-IN"/>
              <a:pPr>
                <a:defRPr/>
              </a:pPr>
              <a:t>06-05-2026</a:t>
            </a:fld>
            <a:endParaRPr lang="en-IN"/>
          </a:p>
        </p:txBody>
      </p:sp>
      <p:sp>
        <p:nvSpPr>
          <p:cNvPr id="3" name="Footer Placeholder 4"/>
          <p:cNvSpPr>
            <a:spLocks noGrp="1"/>
          </p:cNvSpPr>
          <p:nvPr>
            <p:ph type="ftr" sz="quarter" idx="11"/>
          </p:nvPr>
        </p:nvSpPr>
        <p:spPr/>
        <p:txBody>
          <a:bodyPr/>
          <a:lstStyle>
            <a:lvl1pPr>
              <a:defRPr/>
            </a:lvl1pPr>
          </a:lstStyle>
          <a:p>
            <a:pPr>
              <a:defRPr/>
            </a:pPr>
            <a:endParaRPr lang="en-IN"/>
          </a:p>
        </p:txBody>
      </p:sp>
      <p:sp>
        <p:nvSpPr>
          <p:cNvPr id="4" name="Slide Number Placeholder 5"/>
          <p:cNvSpPr>
            <a:spLocks noGrp="1"/>
          </p:cNvSpPr>
          <p:nvPr>
            <p:ph type="sldNum" sz="quarter" idx="12"/>
          </p:nvPr>
        </p:nvSpPr>
        <p:spPr/>
        <p:txBody>
          <a:bodyPr/>
          <a:lstStyle>
            <a:lvl1pPr>
              <a:defRPr/>
            </a:lvl1pPr>
          </a:lstStyle>
          <a:p>
            <a:pPr>
              <a:defRPr/>
            </a:pPr>
            <a:fld id="{59C4BE5C-2D82-4E87-9042-43FFF4C2718F}" type="slidenum">
              <a:rPr lang="en-IN"/>
              <a:pPr>
                <a:defRPr/>
              </a:pPr>
              <a:t>‹#›</a:t>
            </a:fld>
            <a:endParaRPr lang="en-IN"/>
          </a:p>
        </p:txBody>
      </p:sp>
    </p:spTree>
    <p:extLst>
      <p:ext uri="{BB962C8B-B14F-4D97-AF65-F5344CB8AC3E}">
        <p14:creationId xmlns:p14="http://schemas.microsoft.com/office/powerpoint/2010/main" val="35151019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914400"/>
            <a:ext cx="7864475" cy="3200400"/>
          </a:xfrm>
        </p:spPr>
        <p:txBody>
          <a:bodyPr anchor="b"/>
          <a:lstStyle>
            <a:lvl1pPr>
              <a:defRPr sz="6400"/>
            </a:lvl1pPr>
          </a:lstStyle>
          <a:p>
            <a:r>
              <a:rPr lang="en-US"/>
              <a:t>Click to edit Master title style</a:t>
            </a:r>
            <a:endParaRPr lang="en-IN"/>
          </a:p>
        </p:txBody>
      </p:sp>
      <p:sp>
        <p:nvSpPr>
          <p:cNvPr id="3" name="Content Placeholder 2"/>
          <p:cNvSpPr>
            <a:spLocks noGrp="1"/>
          </p:cNvSpPr>
          <p:nvPr>
            <p:ph idx="1"/>
          </p:nvPr>
        </p:nvSpPr>
        <p:spPr>
          <a:xfrm>
            <a:off x="10366376" y="1974852"/>
            <a:ext cx="12344400" cy="9747251"/>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1679576" y="4114801"/>
            <a:ext cx="7864475" cy="7623176"/>
          </a:xfrm>
        </p:spPr>
        <p:txBody>
          <a:bodyPr/>
          <a:lstStyle>
            <a:lvl1pPr marL="0" indent="0">
              <a:buNone/>
              <a:defRPr sz="3200"/>
            </a:lvl1pPr>
            <a:lvl2pPr marL="914411" indent="0">
              <a:buNone/>
              <a:defRPr sz="2800"/>
            </a:lvl2pPr>
            <a:lvl3pPr marL="1828823" indent="0">
              <a:buNone/>
              <a:defRPr sz="2400"/>
            </a:lvl3pPr>
            <a:lvl4pPr marL="2743234" indent="0">
              <a:buNone/>
              <a:defRPr sz="2000"/>
            </a:lvl4pPr>
            <a:lvl5pPr marL="3657646" indent="0">
              <a:buNone/>
              <a:defRPr sz="2000"/>
            </a:lvl5pPr>
            <a:lvl6pPr marL="4572057" indent="0">
              <a:buNone/>
              <a:defRPr sz="2000"/>
            </a:lvl6pPr>
            <a:lvl7pPr marL="5486469" indent="0">
              <a:buNone/>
              <a:defRPr sz="2000"/>
            </a:lvl7pPr>
            <a:lvl8pPr marL="6400880" indent="0">
              <a:buNone/>
              <a:defRPr sz="2000"/>
            </a:lvl8pPr>
            <a:lvl9pPr marL="7315291" indent="0">
              <a:buNone/>
              <a:defRPr sz="2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907FFE7-25AA-4D50-8CEA-638660AE5DE9}" type="datetime1">
              <a:rPr lang="en-IN"/>
              <a:pPr>
                <a:defRPr/>
              </a:pPr>
              <a:t>06-05-2026</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7C1977C4-2B54-470C-9620-B814EE039A92}" type="slidenum">
              <a:rPr lang="en-IN"/>
              <a:pPr>
                <a:defRPr/>
              </a:pPr>
              <a:t>‹#›</a:t>
            </a:fld>
            <a:endParaRPr lang="en-IN"/>
          </a:p>
        </p:txBody>
      </p:sp>
    </p:spTree>
    <p:extLst>
      <p:ext uri="{BB962C8B-B14F-4D97-AF65-F5344CB8AC3E}">
        <p14:creationId xmlns:p14="http://schemas.microsoft.com/office/powerpoint/2010/main" val="6502177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914400"/>
            <a:ext cx="7864475" cy="3200400"/>
          </a:xfrm>
        </p:spPr>
        <p:txBody>
          <a:bodyPr anchor="b"/>
          <a:lstStyle>
            <a:lvl1pPr>
              <a:defRPr sz="6400"/>
            </a:lvl1pPr>
          </a:lstStyle>
          <a:p>
            <a:r>
              <a:rPr lang="en-US"/>
              <a:t>Click to edit Master title style</a:t>
            </a:r>
            <a:endParaRPr lang="en-IN"/>
          </a:p>
        </p:txBody>
      </p:sp>
      <p:sp>
        <p:nvSpPr>
          <p:cNvPr id="3" name="Picture Placeholder 2"/>
          <p:cNvSpPr>
            <a:spLocks noGrp="1"/>
          </p:cNvSpPr>
          <p:nvPr>
            <p:ph type="pic" idx="1"/>
          </p:nvPr>
        </p:nvSpPr>
        <p:spPr>
          <a:xfrm>
            <a:off x="10366376" y="1974852"/>
            <a:ext cx="12344400" cy="9747251"/>
          </a:xfrm>
        </p:spPr>
        <p:txBody>
          <a:bodyPr rtlCol="0">
            <a:normAutofit/>
          </a:bodyPr>
          <a:lstStyle>
            <a:lvl1pPr marL="0" indent="0">
              <a:buNone/>
              <a:defRPr sz="6400"/>
            </a:lvl1pPr>
            <a:lvl2pPr marL="914411" indent="0">
              <a:buNone/>
              <a:defRPr sz="5600"/>
            </a:lvl2pPr>
            <a:lvl3pPr marL="1828823" indent="0">
              <a:buNone/>
              <a:defRPr sz="4800"/>
            </a:lvl3pPr>
            <a:lvl4pPr marL="2743234" indent="0">
              <a:buNone/>
              <a:defRPr sz="4000"/>
            </a:lvl4pPr>
            <a:lvl5pPr marL="3657646" indent="0">
              <a:buNone/>
              <a:defRPr sz="4000"/>
            </a:lvl5pPr>
            <a:lvl6pPr marL="4572057" indent="0">
              <a:buNone/>
              <a:defRPr sz="4000"/>
            </a:lvl6pPr>
            <a:lvl7pPr marL="5486469" indent="0">
              <a:buNone/>
              <a:defRPr sz="4000"/>
            </a:lvl7pPr>
            <a:lvl8pPr marL="6400880" indent="0">
              <a:buNone/>
              <a:defRPr sz="4000"/>
            </a:lvl8pPr>
            <a:lvl9pPr marL="7315291" indent="0">
              <a:buNone/>
              <a:defRPr sz="4000"/>
            </a:lvl9pPr>
          </a:lstStyle>
          <a:p>
            <a:pPr lvl="0"/>
            <a:endParaRPr lang="en-IN" noProof="0"/>
          </a:p>
        </p:txBody>
      </p:sp>
      <p:sp>
        <p:nvSpPr>
          <p:cNvPr id="4" name="Text Placeholder 3"/>
          <p:cNvSpPr>
            <a:spLocks noGrp="1"/>
          </p:cNvSpPr>
          <p:nvPr>
            <p:ph type="body" sz="half" idx="2"/>
          </p:nvPr>
        </p:nvSpPr>
        <p:spPr>
          <a:xfrm>
            <a:off x="1679576" y="4114801"/>
            <a:ext cx="7864475" cy="7623176"/>
          </a:xfrm>
        </p:spPr>
        <p:txBody>
          <a:bodyPr/>
          <a:lstStyle>
            <a:lvl1pPr marL="0" indent="0">
              <a:buNone/>
              <a:defRPr sz="3200"/>
            </a:lvl1pPr>
            <a:lvl2pPr marL="914411" indent="0">
              <a:buNone/>
              <a:defRPr sz="2800"/>
            </a:lvl2pPr>
            <a:lvl3pPr marL="1828823" indent="0">
              <a:buNone/>
              <a:defRPr sz="2400"/>
            </a:lvl3pPr>
            <a:lvl4pPr marL="2743234" indent="0">
              <a:buNone/>
              <a:defRPr sz="2000"/>
            </a:lvl4pPr>
            <a:lvl5pPr marL="3657646" indent="0">
              <a:buNone/>
              <a:defRPr sz="2000"/>
            </a:lvl5pPr>
            <a:lvl6pPr marL="4572057" indent="0">
              <a:buNone/>
              <a:defRPr sz="2000"/>
            </a:lvl6pPr>
            <a:lvl7pPr marL="5486469" indent="0">
              <a:buNone/>
              <a:defRPr sz="2000"/>
            </a:lvl7pPr>
            <a:lvl8pPr marL="6400880" indent="0">
              <a:buNone/>
              <a:defRPr sz="2000"/>
            </a:lvl8pPr>
            <a:lvl9pPr marL="7315291" indent="0">
              <a:buNone/>
              <a:defRPr sz="2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C9D2F83-348A-433D-BA6C-A3844DDBBF12}" type="datetime1">
              <a:rPr lang="en-IN"/>
              <a:pPr>
                <a:defRPr/>
              </a:pPr>
              <a:t>06-05-2026</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2ABB056B-84D1-44BC-AAE4-61BB8F642A16}" type="slidenum">
              <a:rPr lang="en-IN"/>
              <a:pPr>
                <a:defRPr/>
              </a:pPr>
              <a:t>‹#›</a:t>
            </a:fld>
            <a:endParaRPr lang="en-IN"/>
          </a:p>
        </p:txBody>
      </p:sp>
    </p:spTree>
    <p:extLst>
      <p:ext uri="{BB962C8B-B14F-4D97-AF65-F5344CB8AC3E}">
        <p14:creationId xmlns:p14="http://schemas.microsoft.com/office/powerpoint/2010/main" val="2145635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FF881CBE-7E1F-413E-AA0D-79C00A747804}" type="datetime1">
              <a:rPr lang="en-IN"/>
              <a:pPr>
                <a:defRPr/>
              </a:pPr>
              <a:t>06-05-2026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869967EC-7035-47CE-83E7-74011AE47230}" type="slidenum">
              <a:rPr lang="en-IN"/>
              <a:pPr>
                <a:defRPr/>
              </a:pPr>
              <a:t>‹#›</a:t>
            </a:fld>
            <a:endParaRPr lang="en-IN"/>
          </a:p>
        </p:txBody>
      </p:sp>
    </p:spTree>
    <p:extLst>
      <p:ext uri="{BB962C8B-B14F-4D97-AF65-F5344CB8AC3E}">
        <p14:creationId xmlns:p14="http://schemas.microsoft.com/office/powerpoint/2010/main" val="9703780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1" y="730252"/>
            <a:ext cx="5257800" cy="1162367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676401" y="730252"/>
            <a:ext cx="15468600" cy="116236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3959357B-D3EC-444D-97A6-5A2DD756B13F}" type="datetime1">
              <a:rPr lang="en-IN"/>
              <a:pPr>
                <a:defRPr/>
              </a:pPr>
              <a:t>06-05-2026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822D1B2B-F1DC-4561-8B5B-9B583DC8A0BA}" type="slidenum">
              <a:rPr lang="en-IN"/>
              <a:pPr>
                <a:defRPr/>
              </a:pPr>
              <a:t>‹#›</a:t>
            </a:fld>
            <a:endParaRPr lang="en-IN"/>
          </a:p>
        </p:txBody>
      </p:sp>
    </p:spTree>
    <p:extLst>
      <p:ext uri="{BB962C8B-B14F-4D97-AF65-F5344CB8AC3E}">
        <p14:creationId xmlns:p14="http://schemas.microsoft.com/office/powerpoint/2010/main" val="3709638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1997689" y="12700001"/>
            <a:ext cx="388621" cy="42926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Graphik"/>
                <a:ea typeface="Graphik"/>
                <a:cs typeface="Graphik"/>
                <a:sym typeface="Graphik"/>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Canela Bold"/>
          <a:ea typeface="Canela Bold"/>
          <a:cs typeface="Canela Bold"/>
          <a:sym typeface="Canela Bold"/>
        </a:defRPr>
      </a:lvl1pPr>
      <a:lvl2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Canela Bold"/>
          <a:ea typeface="Canela Bold"/>
          <a:cs typeface="Canela Bold"/>
          <a:sym typeface="Canela Bold"/>
        </a:defRPr>
      </a:lvl2pPr>
      <a:lvl3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Canela Bold"/>
          <a:ea typeface="Canela Bold"/>
          <a:cs typeface="Canela Bold"/>
          <a:sym typeface="Canela Bold"/>
        </a:defRPr>
      </a:lvl3pPr>
      <a:lvl4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Canela Bold"/>
          <a:ea typeface="Canela Bold"/>
          <a:cs typeface="Canela Bold"/>
          <a:sym typeface="Canela Bold"/>
        </a:defRPr>
      </a:lvl4pPr>
      <a:lvl5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Canela Bold"/>
          <a:ea typeface="Canela Bold"/>
          <a:cs typeface="Canela Bold"/>
          <a:sym typeface="Canela Bold"/>
        </a:defRPr>
      </a:lvl5pPr>
      <a:lvl6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Canela Bold"/>
          <a:ea typeface="Canela Bold"/>
          <a:cs typeface="Canela Bold"/>
          <a:sym typeface="Canela Bold"/>
        </a:defRPr>
      </a:lvl6pPr>
      <a:lvl7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Canela Bold"/>
          <a:ea typeface="Canela Bold"/>
          <a:cs typeface="Canela Bold"/>
          <a:sym typeface="Canela Bold"/>
        </a:defRPr>
      </a:lvl7pPr>
      <a:lvl8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Canela Bold"/>
          <a:ea typeface="Canela Bold"/>
          <a:cs typeface="Canela Bold"/>
          <a:sym typeface="Canela Bold"/>
        </a:defRPr>
      </a:lvl8pPr>
      <a:lvl9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Canela Bold"/>
          <a:ea typeface="Canela Bold"/>
          <a:cs typeface="Canela Bold"/>
          <a:sym typeface="Canela Bold"/>
        </a:defRPr>
      </a:lvl9pPr>
    </p:titleStyle>
    <p:bodyStyle>
      <a:lvl1pPr marL="546100" marR="0" indent="-546100" algn="l" defTabSz="2438337"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1pPr>
      <a:lvl2pPr marL="1092200" marR="0" indent="-546100" algn="l" defTabSz="2438337"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2pPr>
      <a:lvl3pPr marL="1638300" marR="0" indent="-546100" algn="l" defTabSz="2438337"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3pPr>
      <a:lvl4pPr marL="2184400" marR="0" indent="-546100" algn="l" defTabSz="2438337"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4pPr>
      <a:lvl5pPr marL="2730500" marR="0" indent="-546100" algn="l" defTabSz="2438337"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5pPr>
      <a:lvl6pPr marL="3276600" marR="0" indent="-546100" algn="l" defTabSz="2438337"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6pPr>
      <a:lvl7pPr marL="3822700" marR="0" indent="-546100" algn="l" defTabSz="2438337"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7pPr>
      <a:lvl8pPr marL="4368800" marR="0" indent="-546100" algn="l" defTabSz="2438337"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8pPr>
      <a:lvl9pPr marL="4914900" marR="0" indent="-546100" algn="l" defTabSz="2438337"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1pPr>
      <a:lvl2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2pPr>
      <a:lvl3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3pPr>
      <a:lvl4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4pPr>
      <a:lvl5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5pPr>
      <a:lvl6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6pPr>
      <a:lvl7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7pPr>
      <a:lvl8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8pPr>
      <a:lvl9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676400" y="730251"/>
            <a:ext cx="21031200"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1676400" y="3651251"/>
            <a:ext cx="21031200" cy="8702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1676400" y="12712701"/>
            <a:ext cx="5486400" cy="730251"/>
          </a:xfrm>
          <a:prstGeom prst="rect">
            <a:avLst/>
          </a:prstGeom>
        </p:spPr>
        <p:txBody>
          <a:bodyPr vert="horz" lIns="91440" tIns="45720" rIns="91440" bIns="45720" rtlCol="0" anchor="ctr"/>
          <a:lstStyle>
            <a:lvl1pPr algn="l" eaLnBrk="1" fontAlgn="auto" hangingPunct="1">
              <a:spcBef>
                <a:spcPts val="0"/>
              </a:spcBef>
              <a:spcAft>
                <a:spcPts val="0"/>
              </a:spcAft>
              <a:defRPr sz="2400" smtClean="0">
                <a:solidFill>
                  <a:schemeClr val="tx1">
                    <a:tint val="75000"/>
                  </a:schemeClr>
                </a:solidFill>
                <a:latin typeface="+mn-lt"/>
              </a:defRPr>
            </a:lvl1pPr>
          </a:lstStyle>
          <a:p>
            <a:pPr>
              <a:defRPr/>
            </a:pPr>
            <a:fld id="{7E452C6E-7C14-4C12-B77F-5ED6D56B5E62}" type="datetime1">
              <a:rPr lang="en-IN"/>
              <a:pPr>
                <a:defRPr/>
              </a:pPr>
              <a:t>06-05-2026</a:t>
            </a:fld>
            <a:endParaRPr lang="en-IN"/>
          </a:p>
        </p:txBody>
      </p:sp>
      <p:sp>
        <p:nvSpPr>
          <p:cNvPr id="5" name="Footer Placeholder 4"/>
          <p:cNvSpPr>
            <a:spLocks noGrp="1"/>
          </p:cNvSpPr>
          <p:nvPr>
            <p:ph type="ftr" sz="quarter" idx="3"/>
          </p:nvPr>
        </p:nvSpPr>
        <p:spPr>
          <a:xfrm>
            <a:off x="8077200" y="12712701"/>
            <a:ext cx="8229600" cy="730251"/>
          </a:xfrm>
          <a:prstGeom prst="rect">
            <a:avLst/>
          </a:prstGeom>
        </p:spPr>
        <p:txBody>
          <a:bodyPr vert="horz" lIns="91440" tIns="45720" rIns="91440" bIns="45720" rtlCol="0" anchor="ctr"/>
          <a:lstStyle>
            <a:lvl1pPr algn="ctr" eaLnBrk="1" fontAlgn="auto" hangingPunct="1">
              <a:spcBef>
                <a:spcPts val="0"/>
              </a:spcBef>
              <a:spcAft>
                <a:spcPts val="0"/>
              </a:spcAft>
              <a:defRPr sz="2400" smtClean="0">
                <a:solidFill>
                  <a:schemeClr val="tx1">
                    <a:tint val="75000"/>
                  </a:schemeClr>
                </a:solidFill>
                <a:latin typeface="+mn-lt"/>
              </a:defRPr>
            </a:lvl1pPr>
          </a:lstStyle>
          <a:p>
            <a:pPr>
              <a:defRPr/>
            </a:pPr>
            <a:endParaRPr lang="en-IN"/>
          </a:p>
        </p:txBody>
      </p:sp>
      <p:sp>
        <p:nvSpPr>
          <p:cNvPr id="6" name="Slide Number Placeholder 5"/>
          <p:cNvSpPr>
            <a:spLocks noGrp="1"/>
          </p:cNvSpPr>
          <p:nvPr>
            <p:ph type="sldNum" sz="quarter" idx="4"/>
          </p:nvPr>
        </p:nvSpPr>
        <p:spPr>
          <a:xfrm>
            <a:off x="17221200" y="12712701"/>
            <a:ext cx="5486400" cy="730251"/>
          </a:xfrm>
          <a:prstGeom prst="rect">
            <a:avLst/>
          </a:prstGeom>
        </p:spPr>
        <p:txBody>
          <a:bodyPr vert="horz" lIns="91440" tIns="45720" rIns="91440" bIns="45720" rtlCol="0" anchor="ctr"/>
          <a:lstStyle>
            <a:lvl1pPr algn="r" eaLnBrk="1" fontAlgn="auto" hangingPunct="1">
              <a:spcBef>
                <a:spcPts val="0"/>
              </a:spcBef>
              <a:spcAft>
                <a:spcPts val="0"/>
              </a:spcAft>
              <a:defRPr sz="2400" smtClean="0">
                <a:solidFill>
                  <a:schemeClr val="tx1">
                    <a:tint val="75000"/>
                  </a:schemeClr>
                </a:solidFill>
                <a:latin typeface="+mn-lt"/>
              </a:defRPr>
            </a:lvl1pPr>
          </a:lstStyle>
          <a:p>
            <a:pPr>
              <a:defRPr/>
            </a:pPr>
            <a:fld id="{7DEAA2BB-E9C6-4164-B92B-0700829F1F61}" type="slidenum">
              <a:rPr lang="en-IN"/>
              <a:pPr>
                <a:defRPr/>
              </a:pPr>
              <a:t>‹#›</a:t>
            </a:fld>
            <a:endParaRPr lang="en-IN"/>
          </a:p>
        </p:txBody>
      </p:sp>
    </p:spTree>
    <p:extLst>
      <p:ext uri="{BB962C8B-B14F-4D97-AF65-F5344CB8AC3E}">
        <p14:creationId xmlns:p14="http://schemas.microsoft.com/office/powerpoint/2010/main" val="383539979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ftr="0" dt="0"/>
  <p:txStyles>
    <p:titleStyle>
      <a:lvl1pPr algn="l" rtl="0" fontAlgn="base">
        <a:lnSpc>
          <a:spcPct val="90000"/>
        </a:lnSpc>
        <a:spcBef>
          <a:spcPct val="0"/>
        </a:spcBef>
        <a:spcAft>
          <a:spcPct val="0"/>
        </a:spcAft>
        <a:defRPr sz="8800" kern="1200">
          <a:solidFill>
            <a:schemeClr val="tx1"/>
          </a:solidFill>
          <a:latin typeface="+mj-lt"/>
          <a:ea typeface="+mj-ea"/>
          <a:cs typeface="+mj-cs"/>
        </a:defRPr>
      </a:lvl1pPr>
      <a:lvl2pPr algn="l" rtl="0" fontAlgn="base">
        <a:lnSpc>
          <a:spcPct val="90000"/>
        </a:lnSpc>
        <a:spcBef>
          <a:spcPct val="0"/>
        </a:spcBef>
        <a:spcAft>
          <a:spcPct val="0"/>
        </a:spcAft>
        <a:defRPr sz="8800">
          <a:solidFill>
            <a:schemeClr val="tx1"/>
          </a:solidFill>
          <a:latin typeface="Calibri Light" panose="020F0302020204030204" pitchFamily="34" charset="0"/>
        </a:defRPr>
      </a:lvl2pPr>
      <a:lvl3pPr algn="l" rtl="0" fontAlgn="base">
        <a:lnSpc>
          <a:spcPct val="90000"/>
        </a:lnSpc>
        <a:spcBef>
          <a:spcPct val="0"/>
        </a:spcBef>
        <a:spcAft>
          <a:spcPct val="0"/>
        </a:spcAft>
        <a:defRPr sz="8800">
          <a:solidFill>
            <a:schemeClr val="tx1"/>
          </a:solidFill>
          <a:latin typeface="Calibri Light" panose="020F0302020204030204" pitchFamily="34" charset="0"/>
        </a:defRPr>
      </a:lvl3pPr>
      <a:lvl4pPr algn="l" rtl="0" fontAlgn="base">
        <a:lnSpc>
          <a:spcPct val="90000"/>
        </a:lnSpc>
        <a:spcBef>
          <a:spcPct val="0"/>
        </a:spcBef>
        <a:spcAft>
          <a:spcPct val="0"/>
        </a:spcAft>
        <a:defRPr sz="8800">
          <a:solidFill>
            <a:schemeClr val="tx1"/>
          </a:solidFill>
          <a:latin typeface="Calibri Light" panose="020F0302020204030204" pitchFamily="34" charset="0"/>
        </a:defRPr>
      </a:lvl4pPr>
      <a:lvl5pPr algn="l" rtl="0" fontAlgn="base">
        <a:lnSpc>
          <a:spcPct val="90000"/>
        </a:lnSpc>
        <a:spcBef>
          <a:spcPct val="0"/>
        </a:spcBef>
        <a:spcAft>
          <a:spcPct val="0"/>
        </a:spcAft>
        <a:defRPr sz="8800">
          <a:solidFill>
            <a:schemeClr val="tx1"/>
          </a:solidFill>
          <a:latin typeface="Calibri Light" panose="020F0302020204030204" pitchFamily="34" charset="0"/>
        </a:defRPr>
      </a:lvl5pPr>
      <a:lvl6pPr marL="914411" algn="l" rtl="0" fontAlgn="base">
        <a:lnSpc>
          <a:spcPct val="90000"/>
        </a:lnSpc>
        <a:spcBef>
          <a:spcPct val="0"/>
        </a:spcBef>
        <a:spcAft>
          <a:spcPct val="0"/>
        </a:spcAft>
        <a:defRPr sz="8800">
          <a:solidFill>
            <a:schemeClr val="tx1"/>
          </a:solidFill>
          <a:latin typeface="Calibri Light" panose="020F0302020204030204" pitchFamily="34" charset="0"/>
        </a:defRPr>
      </a:lvl6pPr>
      <a:lvl7pPr marL="1828823" algn="l" rtl="0" fontAlgn="base">
        <a:lnSpc>
          <a:spcPct val="90000"/>
        </a:lnSpc>
        <a:spcBef>
          <a:spcPct val="0"/>
        </a:spcBef>
        <a:spcAft>
          <a:spcPct val="0"/>
        </a:spcAft>
        <a:defRPr sz="8800">
          <a:solidFill>
            <a:schemeClr val="tx1"/>
          </a:solidFill>
          <a:latin typeface="Calibri Light" panose="020F0302020204030204" pitchFamily="34" charset="0"/>
        </a:defRPr>
      </a:lvl7pPr>
      <a:lvl8pPr marL="2743234" algn="l" rtl="0" fontAlgn="base">
        <a:lnSpc>
          <a:spcPct val="90000"/>
        </a:lnSpc>
        <a:spcBef>
          <a:spcPct val="0"/>
        </a:spcBef>
        <a:spcAft>
          <a:spcPct val="0"/>
        </a:spcAft>
        <a:defRPr sz="8800">
          <a:solidFill>
            <a:schemeClr val="tx1"/>
          </a:solidFill>
          <a:latin typeface="Calibri Light" panose="020F0302020204030204" pitchFamily="34" charset="0"/>
        </a:defRPr>
      </a:lvl8pPr>
      <a:lvl9pPr marL="3657646" algn="l" rtl="0" fontAlgn="base">
        <a:lnSpc>
          <a:spcPct val="90000"/>
        </a:lnSpc>
        <a:spcBef>
          <a:spcPct val="0"/>
        </a:spcBef>
        <a:spcAft>
          <a:spcPct val="0"/>
        </a:spcAft>
        <a:defRPr sz="8800">
          <a:solidFill>
            <a:schemeClr val="tx1"/>
          </a:solidFill>
          <a:latin typeface="Calibri Light" panose="020F0302020204030204" pitchFamily="34" charset="0"/>
        </a:defRPr>
      </a:lvl9pPr>
    </p:titleStyle>
    <p:bodyStyle>
      <a:lvl1pPr marL="457206" indent="-457206" algn="l" rtl="0" fontAlgn="base">
        <a:lnSpc>
          <a:spcPct val="90000"/>
        </a:lnSpc>
        <a:spcBef>
          <a:spcPts val="2000"/>
        </a:spcBef>
        <a:spcAft>
          <a:spcPct val="0"/>
        </a:spcAft>
        <a:buFont typeface="Arial" panose="020B0604020202020204" pitchFamily="34" charset="0"/>
        <a:buChar char="•"/>
        <a:defRPr sz="5600" kern="1200">
          <a:solidFill>
            <a:schemeClr val="tx1"/>
          </a:solidFill>
          <a:latin typeface="+mn-lt"/>
          <a:ea typeface="+mn-ea"/>
          <a:cs typeface="+mn-cs"/>
        </a:defRPr>
      </a:lvl1pPr>
      <a:lvl2pPr marL="1371617" indent="-457206" algn="l" rtl="0" fontAlgn="base">
        <a:lnSpc>
          <a:spcPct val="90000"/>
        </a:lnSpc>
        <a:spcBef>
          <a:spcPts val="1000"/>
        </a:spcBef>
        <a:spcAft>
          <a:spcPct val="0"/>
        </a:spcAft>
        <a:buFont typeface="Arial" panose="020B0604020202020204" pitchFamily="34" charset="0"/>
        <a:buChar char="•"/>
        <a:defRPr sz="4800" kern="1200">
          <a:solidFill>
            <a:schemeClr val="tx1"/>
          </a:solidFill>
          <a:latin typeface="+mn-lt"/>
          <a:ea typeface="+mn-ea"/>
          <a:cs typeface="+mn-cs"/>
        </a:defRPr>
      </a:lvl2pPr>
      <a:lvl3pPr marL="2286029" indent="-457206" algn="l" rtl="0" fontAlgn="base">
        <a:lnSpc>
          <a:spcPct val="90000"/>
        </a:lnSpc>
        <a:spcBef>
          <a:spcPts val="1000"/>
        </a:spcBef>
        <a:spcAft>
          <a:spcPct val="0"/>
        </a:spcAft>
        <a:buFont typeface="Arial" panose="020B0604020202020204" pitchFamily="34" charset="0"/>
        <a:buChar char="•"/>
        <a:defRPr sz="4000" kern="1200">
          <a:solidFill>
            <a:schemeClr val="tx1"/>
          </a:solidFill>
          <a:latin typeface="+mn-lt"/>
          <a:ea typeface="+mn-ea"/>
          <a:cs typeface="+mn-cs"/>
        </a:defRPr>
      </a:lvl3pPr>
      <a:lvl4pPr marL="3200440" indent="-457206" algn="l" rtl="0" fontAlgn="base">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4pPr>
      <a:lvl5pPr marL="4114851" indent="-457206" algn="l" rtl="0" fontAlgn="base">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5pPr>
      <a:lvl6pPr marL="5029263"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74"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86"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97"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23" rtl="0" eaLnBrk="1" latinLnBrk="0" hangingPunct="1">
        <a:defRPr sz="3600" kern="1200">
          <a:solidFill>
            <a:schemeClr val="tx1"/>
          </a:solidFill>
          <a:latin typeface="+mn-lt"/>
          <a:ea typeface="+mn-ea"/>
          <a:cs typeface="+mn-cs"/>
        </a:defRPr>
      </a:lvl1pPr>
      <a:lvl2pPr marL="914411" algn="l" defTabSz="1828823" rtl="0" eaLnBrk="1" latinLnBrk="0" hangingPunct="1">
        <a:defRPr sz="3600" kern="1200">
          <a:solidFill>
            <a:schemeClr val="tx1"/>
          </a:solidFill>
          <a:latin typeface="+mn-lt"/>
          <a:ea typeface="+mn-ea"/>
          <a:cs typeface="+mn-cs"/>
        </a:defRPr>
      </a:lvl2pPr>
      <a:lvl3pPr marL="1828823" algn="l" defTabSz="1828823" rtl="0" eaLnBrk="1" latinLnBrk="0" hangingPunct="1">
        <a:defRPr sz="3600" kern="1200">
          <a:solidFill>
            <a:schemeClr val="tx1"/>
          </a:solidFill>
          <a:latin typeface="+mn-lt"/>
          <a:ea typeface="+mn-ea"/>
          <a:cs typeface="+mn-cs"/>
        </a:defRPr>
      </a:lvl3pPr>
      <a:lvl4pPr marL="2743234" algn="l" defTabSz="1828823" rtl="0" eaLnBrk="1" latinLnBrk="0" hangingPunct="1">
        <a:defRPr sz="3600" kern="1200">
          <a:solidFill>
            <a:schemeClr val="tx1"/>
          </a:solidFill>
          <a:latin typeface="+mn-lt"/>
          <a:ea typeface="+mn-ea"/>
          <a:cs typeface="+mn-cs"/>
        </a:defRPr>
      </a:lvl4pPr>
      <a:lvl5pPr marL="3657646" algn="l" defTabSz="1828823" rtl="0" eaLnBrk="1" latinLnBrk="0" hangingPunct="1">
        <a:defRPr sz="3600" kern="1200">
          <a:solidFill>
            <a:schemeClr val="tx1"/>
          </a:solidFill>
          <a:latin typeface="+mn-lt"/>
          <a:ea typeface="+mn-ea"/>
          <a:cs typeface="+mn-cs"/>
        </a:defRPr>
      </a:lvl5pPr>
      <a:lvl6pPr marL="4572057" algn="l" defTabSz="1828823" rtl="0" eaLnBrk="1" latinLnBrk="0" hangingPunct="1">
        <a:defRPr sz="3600" kern="1200">
          <a:solidFill>
            <a:schemeClr val="tx1"/>
          </a:solidFill>
          <a:latin typeface="+mn-lt"/>
          <a:ea typeface="+mn-ea"/>
          <a:cs typeface="+mn-cs"/>
        </a:defRPr>
      </a:lvl6pPr>
      <a:lvl7pPr marL="5486469" algn="l" defTabSz="1828823" rtl="0" eaLnBrk="1" latinLnBrk="0" hangingPunct="1">
        <a:defRPr sz="3600" kern="1200">
          <a:solidFill>
            <a:schemeClr val="tx1"/>
          </a:solidFill>
          <a:latin typeface="+mn-lt"/>
          <a:ea typeface="+mn-ea"/>
          <a:cs typeface="+mn-cs"/>
        </a:defRPr>
      </a:lvl7pPr>
      <a:lvl8pPr marL="6400880" algn="l" defTabSz="1828823" rtl="0" eaLnBrk="1" latinLnBrk="0" hangingPunct="1">
        <a:defRPr sz="3600" kern="1200">
          <a:solidFill>
            <a:schemeClr val="tx1"/>
          </a:solidFill>
          <a:latin typeface="+mn-lt"/>
          <a:ea typeface="+mn-ea"/>
          <a:cs typeface="+mn-cs"/>
        </a:defRPr>
      </a:lvl8pPr>
      <a:lvl9pPr marL="7315291" algn="l" defTabSz="1828823"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neheller/kits19" TargetMode="External"/><Relationship Id="rId2" Type="http://schemas.openxmlformats.org/officeDocument/2006/relationships/hyperlink" Target="https://kits19.grand-challenge.org/"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hyperlink" Target="https://www.kaggle.com/datasets/omarxadel/chaos-combined-ct-mr-healthy-abdominal-organ" TargetMode="Externa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Internal Guide:…"/>
          <p:cNvSpPr txBox="1">
            <a:spLocks noGrp="1"/>
          </p:cNvSpPr>
          <p:nvPr>
            <p:ph type="body" sz="quarter" idx="1"/>
          </p:nvPr>
        </p:nvSpPr>
        <p:spPr>
          <a:xfrm>
            <a:off x="1219199" y="9760770"/>
            <a:ext cx="6622474" cy="2206715"/>
          </a:xfrm>
          <a:prstGeom prst="rect">
            <a:avLst/>
          </a:prstGeom>
        </p:spPr>
        <p:txBody>
          <a:bodyPr>
            <a:normAutofit/>
          </a:bodyPr>
          <a:lstStyle/>
          <a:p>
            <a:pPr algn="l">
              <a:defRPr sz="3600" spc="-100"/>
            </a:pPr>
            <a:r>
              <a:rPr dirty="0"/>
              <a:t>Internal Guide:</a:t>
            </a:r>
            <a:endParaRPr lang="en-IN" dirty="0"/>
          </a:p>
          <a:p>
            <a:pPr algn="l">
              <a:defRPr sz="3600" spc="-100"/>
            </a:pPr>
            <a:r>
              <a:rPr lang="en-US" sz="3600" i="1" dirty="0"/>
              <a:t>Mrs. DRL Prasanna </a:t>
            </a:r>
            <a:endParaRPr lang="en-IN" spc="-36" dirty="0"/>
          </a:p>
          <a:p>
            <a:pPr algn="l">
              <a:defRPr sz="3600" spc="-100"/>
            </a:pPr>
            <a:r>
              <a:rPr lang="en-IN" spc="-36" dirty="0"/>
              <a:t>Assistant Professor</a:t>
            </a:r>
            <a:endParaRPr spc="-36" dirty="0"/>
          </a:p>
        </p:txBody>
      </p:sp>
      <p:sp>
        <p:nvSpPr>
          <p:cNvPr id="172" name="Title"/>
          <p:cNvSpPr txBox="1">
            <a:spLocks noGrp="1"/>
          </p:cNvSpPr>
          <p:nvPr>
            <p:ph type="title"/>
          </p:nvPr>
        </p:nvSpPr>
        <p:spPr>
          <a:xfrm>
            <a:off x="1219200" y="5600604"/>
            <a:ext cx="21945600" cy="2909512"/>
          </a:xfrm>
          <a:prstGeom prst="rect">
            <a:avLst/>
          </a:prstGeom>
        </p:spPr>
        <p:txBody>
          <a:bodyPr>
            <a:normAutofit fontScale="90000"/>
          </a:bodyPr>
          <a:lstStyle>
            <a:lvl1pPr>
              <a:defRPr spc="-200"/>
            </a:lvl1pPr>
          </a:lstStyle>
          <a:p>
            <a:r>
              <a:rPr lang="en-US" sz="9600" b="1" i="1" dirty="0">
                <a:latin typeface="Helvetica" pitchFamily="2" charset="0"/>
                <a:cs typeface="APPLE CHANCERY" panose="03020702040506060504" pitchFamily="66" charset="-79"/>
              </a:rPr>
              <a:t>Deep Learning Approach for Kidney CT Segmentation Using Attention U-Net++</a:t>
            </a:r>
            <a:br>
              <a:rPr lang="en-US" sz="9600" b="1" i="1" dirty="0">
                <a:latin typeface="Helvetica" pitchFamily="2" charset="0"/>
                <a:cs typeface="APPLE CHANCERY" panose="03020702040506060504" pitchFamily="66" charset="-79"/>
              </a:rPr>
            </a:br>
            <a:endParaRPr dirty="0"/>
          </a:p>
        </p:txBody>
      </p:sp>
      <p:sp>
        <p:nvSpPr>
          <p:cNvPr id="4" name="Internal Guide:…"/>
          <p:cNvSpPr txBox="1">
            <a:spLocks noGrp="1"/>
          </p:cNvSpPr>
          <p:nvPr>
            <p:ph type="body" sz="quarter" idx="1"/>
          </p:nvPr>
        </p:nvSpPr>
        <p:spPr>
          <a:xfrm>
            <a:off x="17318183" y="9760769"/>
            <a:ext cx="6206836" cy="2206715"/>
          </a:xfrm>
          <a:prstGeom prst="rect">
            <a:avLst/>
          </a:prstGeom>
        </p:spPr>
        <p:txBody>
          <a:bodyPr>
            <a:normAutofit/>
          </a:bodyPr>
          <a:lstStyle/>
          <a:p>
            <a:pPr algn="l">
              <a:defRPr sz="3600" spc="-100"/>
            </a:pPr>
            <a:r>
              <a:rPr lang="en-IN" dirty="0"/>
              <a:t>Team Members</a:t>
            </a:r>
          </a:p>
          <a:p>
            <a:pPr algn="l">
              <a:defRPr sz="3600" spc="-100"/>
            </a:pPr>
            <a:r>
              <a:rPr lang="en-US" sz="3600" i="1" dirty="0"/>
              <a:t>V. Vignesh (1602-22-737-060)</a:t>
            </a:r>
          </a:p>
          <a:p>
            <a:r>
              <a:rPr lang="en-US" sz="3600" i="1" dirty="0"/>
              <a:t>T. Lasya Priya (1602-22-737-301)</a:t>
            </a:r>
            <a:endParaRPr lang="en-IN" dirty="0"/>
          </a:p>
        </p:txBody>
      </p:sp>
      <p:pic>
        <p:nvPicPr>
          <p:cNvPr id="5" name="Picture 4" descr="A picture containing room, food&#10;&#10;Description automatically generated"/>
          <p:cNvPicPr/>
          <p:nvPr/>
        </p:nvPicPr>
        <p:blipFill>
          <a:blip r:embed="rId2"/>
          <a:stretch/>
        </p:blipFill>
        <p:spPr>
          <a:xfrm>
            <a:off x="21238849" y="-57563"/>
            <a:ext cx="3049013" cy="2909511"/>
          </a:xfrm>
          <a:prstGeom prst="rect">
            <a:avLst/>
          </a:prstGeom>
          <a:ln w="0">
            <a:noFill/>
          </a:ln>
        </p:spPr>
      </p:pic>
      <p:sp>
        <p:nvSpPr>
          <p:cNvPr id="2" name="Rectangle 1"/>
          <p:cNvSpPr/>
          <p:nvPr/>
        </p:nvSpPr>
        <p:spPr>
          <a:xfrm>
            <a:off x="1984917" y="47236"/>
            <a:ext cx="20414166" cy="4302716"/>
          </a:xfrm>
          <a:prstGeom prst="rect">
            <a:avLst/>
          </a:prstGeom>
        </p:spPr>
        <p:txBody>
          <a:bodyPr wrap="square">
            <a:spAutoFit/>
          </a:bodyPr>
          <a:lstStyle/>
          <a:p>
            <a:pPr algn="ctr">
              <a:lnSpc>
                <a:spcPct val="120000"/>
              </a:lnSpc>
              <a:tabLst>
                <a:tab pos="0" algn="l"/>
              </a:tabLst>
            </a:pPr>
            <a:r>
              <a:rPr lang="en-US" sz="5400" b="1" spc="-1" dirty="0">
                <a:solidFill>
                  <a:srgbClr val="0000CC"/>
                </a:solidFill>
                <a:latin typeface="Times New Roman"/>
                <a:ea typeface="Tahoma"/>
              </a:rPr>
              <a:t>VASAVI COLLEGE OF ENGINEERING</a:t>
            </a:r>
            <a:r>
              <a:rPr lang="en-US" sz="5400" b="1" i="1" spc="-1" dirty="0">
                <a:solidFill>
                  <a:srgbClr val="800000"/>
                </a:solidFill>
                <a:latin typeface="Times New Roman"/>
                <a:ea typeface="Tahoma"/>
              </a:rPr>
              <a:t> </a:t>
            </a:r>
            <a:r>
              <a:rPr lang="en-US" sz="5400" b="1" spc="-1" dirty="0">
                <a:solidFill>
                  <a:srgbClr val="800000"/>
                </a:solidFill>
                <a:latin typeface="Times New Roman"/>
                <a:ea typeface="Tahoma"/>
              </a:rPr>
              <a:t>(Autonomous)</a:t>
            </a:r>
            <a:endParaRPr lang="en-IN" sz="5400" spc="-1" dirty="0">
              <a:latin typeface="Arial"/>
            </a:endParaRPr>
          </a:p>
          <a:p>
            <a:pPr algn="ctr">
              <a:lnSpc>
                <a:spcPct val="120000"/>
              </a:lnSpc>
              <a:tabLst>
                <a:tab pos="0" algn="l"/>
              </a:tabLst>
            </a:pPr>
            <a:r>
              <a:rPr lang="en-US" sz="3200" b="1" i="1" spc="-1" dirty="0">
                <a:solidFill>
                  <a:srgbClr val="FF0000"/>
                </a:solidFill>
                <a:latin typeface="Times New Roman"/>
                <a:ea typeface="Tahoma"/>
              </a:rPr>
              <a:t>ACCREDITED BY NAAC WITH 'A++' GRADE</a:t>
            </a:r>
          </a:p>
          <a:p>
            <a:pPr algn="ctr">
              <a:lnSpc>
                <a:spcPct val="120000"/>
              </a:lnSpc>
              <a:tabLst>
                <a:tab pos="0" algn="l"/>
              </a:tabLst>
            </a:pPr>
            <a:r>
              <a:rPr lang="en-US" sz="6000" b="1" spc="-1" dirty="0">
                <a:solidFill>
                  <a:srgbClr val="800000"/>
                </a:solidFill>
                <a:latin typeface="Times New Roman"/>
                <a:ea typeface="Tahoma"/>
              </a:rPr>
              <a:t>Department of Information Technology</a:t>
            </a:r>
            <a:endParaRPr lang="en-IN" sz="6000" spc="-1" dirty="0">
              <a:latin typeface="Arial"/>
            </a:endParaRPr>
          </a:p>
          <a:p>
            <a:pPr algn="ctr">
              <a:lnSpc>
                <a:spcPct val="120000"/>
              </a:lnSpc>
              <a:tabLst>
                <a:tab pos="0" algn="l"/>
              </a:tabLst>
            </a:pPr>
            <a:endParaRPr lang="en-IN" sz="3200" dirty="0"/>
          </a:p>
        </p:txBody>
      </p:sp>
      <p:sp>
        <p:nvSpPr>
          <p:cNvPr id="7" name="Internal Guide:…"/>
          <p:cNvSpPr txBox="1">
            <a:spLocks noGrp="1"/>
          </p:cNvSpPr>
          <p:nvPr>
            <p:ph type="body" sz="quarter" idx="1"/>
          </p:nvPr>
        </p:nvSpPr>
        <p:spPr>
          <a:xfrm>
            <a:off x="9286853" y="9504703"/>
            <a:ext cx="5810293" cy="1509662"/>
          </a:xfrm>
          <a:prstGeom prst="rect">
            <a:avLst/>
          </a:prstGeom>
        </p:spPr>
        <p:txBody>
          <a:bodyPr>
            <a:normAutofit/>
          </a:bodyPr>
          <a:lstStyle/>
          <a:p>
            <a:pPr fontAlgn="base"/>
            <a:r>
              <a:rPr lang="en-IN" dirty="0"/>
              <a:t>Team Id:</a:t>
            </a:r>
            <a:r>
              <a:rPr lang="en-US" dirty="0"/>
              <a:t>​</a:t>
            </a:r>
          </a:p>
          <a:p>
            <a:pPr fontAlgn="base"/>
            <a:r>
              <a:rPr lang="en-IN" b="1" dirty="0"/>
              <a:t>A13</a:t>
            </a:r>
            <a:endParaRPr lang="en-US" dirty="0"/>
          </a:p>
          <a:p>
            <a:pPr>
              <a:defRPr sz="3600" spc="-100"/>
            </a:pPr>
            <a:endParaRPr lang="en-IN"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97D613-F618-E67E-226C-D3C0688A50F2}"/>
              </a:ext>
            </a:extLst>
          </p:cNvPr>
          <p:cNvSpPr>
            <a:spLocks noGrp="1"/>
          </p:cNvSpPr>
          <p:nvPr>
            <p:ph type="title"/>
          </p:nvPr>
        </p:nvSpPr>
        <p:spPr>
          <a:xfrm>
            <a:off x="1219200" y="774700"/>
            <a:ext cx="21945600" cy="929409"/>
          </a:xfrm>
        </p:spPr>
        <p:txBody>
          <a:bodyPr>
            <a:normAutofit fontScale="90000"/>
          </a:bodyPr>
          <a:lstStyle/>
          <a:p>
            <a:r>
              <a:rPr lang="en-IN" dirty="0"/>
              <a:t>AGENDA</a:t>
            </a:r>
          </a:p>
        </p:txBody>
      </p:sp>
      <p:sp>
        <p:nvSpPr>
          <p:cNvPr id="7" name="Text Placeholder 6">
            <a:extLst>
              <a:ext uri="{FF2B5EF4-FFF2-40B4-BE49-F238E27FC236}">
                <a16:creationId xmlns:a16="http://schemas.microsoft.com/office/drawing/2014/main" id="{31651913-9E41-2926-1E36-E8D179D75356}"/>
              </a:ext>
            </a:extLst>
          </p:cNvPr>
          <p:cNvSpPr>
            <a:spLocks noGrp="1"/>
          </p:cNvSpPr>
          <p:nvPr>
            <p:ph type="body" idx="1"/>
          </p:nvPr>
        </p:nvSpPr>
        <p:spPr>
          <a:xfrm>
            <a:off x="1219200" y="2335645"/>
            <a:ext cx="21948577" cy="10154227"/>
          </a:xfrm>
        </p:spPr>
        <p:txBody>
          <a:bodyPr>
            <a:normAutofit fontScale="85000" lnSpcReduction="20000"/>
          </a:bodyPr>
          <a:lstStyle/>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Introduction</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Abstract</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Objectives of the proposed work</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Literature Survey</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Proposed Methodology</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Implementation</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Datasets</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Results</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Conclusion</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Future Scope</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Publication Details</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References</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PO-PSO Mapping</a:t>
            </a:r>
          </a:p>
          <a:p>
            <a:pPr marL="742950" indent="-742950">
              <a:buSzPct val="1000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SDG Mapping</a:t>
            </a:r>
          </a:p>
          <a:p>
            <a:endParaRPr lang="en-IN" dirty="0"/>
          </a:p>
        </p:txBody>
      </p:sp>
    </p:spTree>
    <p:extLst>
      <p:ext uri="{BB962C8B-B14F-4D97-AF65-F5344CB8AC3E}">
        <p14:creationId xmlns:p14="http://schemas.microsoft.com/office/powerpoint/2010/main" val="359903691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Introduction"/>
          <p:cNvSpPr txBox="1">
            <a:spLocks noGrp="1"/>
          </p:cNvSpPr>
          <p:nvPr>
            <p:ph type="title"/>
          </p:nvPr>
        </p:nvSpPr>
        <p:spPr>
          <a:prstGeom prst="rect">
            <a:avLst/>
          </a:prstGeom>
        </p:spPr>
        <p:txBody>
          <a:bodyPr/>
          <a:lstStyle>
            <a:lvl1pPr>
              <a:defRPr spc="-100"/>
            </a:lvl1pPr>
          </a:lstStyle>
          <a:p>
            <a:r>
              <a:rPr dirty="0"/>
              <a:t>Introduction</a:t>
            </a:r>
            <a:r>
              <a:rPr lang="en-IN" dirty="0"/>
              <a:t> &amp; Problem Statement</a:t>
            </a:r>
            <a:endParaRPr dirty="0"/>
          </a:p>
        </p:txBody>
      </p:sp>
      <p:sp>
        <p:nvSpPr>
          <p:cNvPr id="175" name="&lt;Insert&gt;…"/>
          <p:cNvSpPr txBox="1">
            <a:spLocks noGrp="1"/>
          </p:cNvSpPr>
          <p:nvPr>
            <p:ph type="body" idx="1"/>
          </p:nvPr>
        </p:nvSpPr>
        <p:spPr>
          <a:xfrm>
            <a:off x="1219200" y="2987964"/>
            <a:ext cx="21948578" cy="8483600"/>
          </a:xfrm>
          <a:prstGeom prst="rect">
            <a:avLst/>
          </a:prstGeom>
        </p:spPr>
        <p:txBody>
          <a:bodyPr>
            <a:normAutofit fontScale="92500"/>
          </a:bodyPr>
          <a:lstStyle/>
          <a:p>
            <a:pPr marL="0" indent="0">
              <a:buNone/>
            </a:pPr>
            <a:r>
              <a:rPr lang="en-US" b="1" dirty="0"/>
              <a:t>Introduction</a:t>
            </a:r>
          </a:p>
          <a:p>
            <a:pPr marL="0" indent="0">
              <a:buNone/>
            </a:pPr>
            <a:r>
              <a:rPr lang="en-US" dirty="0"/>
              <a:t>Kidney segmentation from medical images is an important step in diagnosis, treatment planning, and disease monitoring. However, manual segmentation is time-consuming and prone to human variability. This project proposes an </a:t>
            </a:r>
            <a:r>
              <a:rPr lang="en-US" b="1" dirty="0"/>
              <a:t>Attention U-Net++ based automated kidney segmentation system</a:t>
            </a:r>
            <a:r>
              <a:rPr lang="en-US" dirty="0"/>
              <a:t> for accurate and reliable extraction of kidney regions from medical images, improving consistency and supporting clinical </a:t>
            </a:r>
            <a:r>
              <a:rPr lang="en-US" b="1" dirty="0"/>
              <a:t>decision-making for radiologists</a:t>
            </a:r>
            <a:r>
              <a:rPr lang="en-US" dirty="0"/>
              <a:t>.</a:t>
            </a:r>
          </a:p>
          <a:p>
            <a:pPr marL="0" indent="0">
              <a:buNone/>
            </a:pPr>
            <a:endParaRPr lang="en-US" dirty="0"/>
          </a:p>
          <a:p>
            <a:pPr marL="0" indent="0">
              <a:buNone/>
            </a:pPr>
            <a:r>
              <a:rPr lang="en-US" b="1" dirty="0"/>
              <a:t>Problem Statement</a:t>
            </a:r>
          </a:p>
          <a:p>
            <a:pPr marL="0" indent="0">
              <a:buNone/>
            </a:pPr>
            <a:r>
              <a:rPr lang="en-US" dirty="0"/>
              <a:t>Kidney segmentation systems often struggle due to </a:t>
            </a:r>
            <a:r>
              <a:rPr lang="en-US" b="1" dirty="0"/>
              <a:t>low contrast, anatomical variability, complex organ boundaries, and background interference</a:t>
            </a:r>
            <a:r>
              <a:rPr lang="en-US" dirty="0"/>
              <a:t> in medical images.</a:t>
            </a:r>
          </a:p>
          <a:p>
            <a:pPr marL="0" indent="0">
              <a:buNone/>
            </a:pPr>
            <a:r>
              <a:rPr lang="en-US" dirty="0"/>
              <a:t>There is a need for an </a:t>
            </a:r>
            <a:r>
              <a:rPr lang="en-US" b="1" dirty="0"/>
              <a:t>advanced deep learning framework</a:t>
            </a:r>
            <a:r>
              <a:rPr lang="en-US" dirty="0"/>
              <a:t> that can accurately focus on kidney-specific regions and provide </a:t>
            </a:r>
            <a:r>
              <a:rPr lang="en-US" b="1" dirty="0"/>
              <a:t>robust, precise, and automated segmentation</a:t>
            </a:r>
            <a:r>
              <a:rPr lang="en-US" dirty="0"/>
              <a:t> for clinical applications.</a:t>
            </a:r>
          </a:p>
          <a:p>
            <a:pPr marL="0" indent="0">
              <a:buNone/>
            </a:pPr>
            <a:endParaRPr lang="en-US"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Abstract"/>
          <p:cNvSpPr txBox="1">
            <a:spLocks noGrp="1"/>
          </p:cNvSpPr>
          <p:nvPr>
            <p:ph type="title"/>
          </p:nvPr>
        </p:nvSpPr>
        <p:spPr>
          <a:prstGeom prst="rect">
            <a:avLst/>
          </a:prstGeom>
        </p:spPr>
        <p:txBody>
          <a:bodyPr/>
          <a:lstStyle>
            <a:lvl1pPr>
              <a:defRPr spc="-100"/>
            </a:lvl1pPr>
          </a:lstStyle>
          <a:p>
            <a:r>
              <a:rPr dirty="0"/>
              <a:t>Abstract</a:t>
            </a:r>
          </a:p>
        </p:txBody>
      </p:sp>
      <p:sp>
        <p:nvSpPr>
          <p:cNvPr id="179" name="&lt;Insert&gt;"/>
          <p:cNvSpPr txBox="1">
            <a:spLocks noGrp="1"/>
          </p:cNvSpPr>
          <p:nvPr>
            <p:ph type="body" idx="1"/>
          </p:nvPr>
        </p:nvSpPr>
        <p:spPr>
          <a:xfrm>
            <a:off x="1217710" y="3023279"/>
            <a:ext cx="21948580" cy="8483602"/>
          </a:xfrm>
          <a:prstGeom prst="rect">
            <a:avLst/>
          </a:prstGeom>
        </p:spPr>
        <p:txBody>
          <a:bodyPr/>
          <a:lstStyle>
            <a:lvl1pPr marL="0" indent="0">
              <a:buSzTx/>
              <a:buNone/>
            </a:lvl1pPr>
          </a:lstStyle>
          <a:p>
            <a:r>
              <a:rPr lang="en-US" dirty="0"/>
              <a:t>This project presents an </a:t>
            </a:r>
            <a:r>
              <a:rPr lang="en-US" b="1" dirty="0"/>
              <a:t>Attention U-Net++ based kidney segmentation system</a:t>
            </a:r>
            <a:r>
              <a:rPr lang="en-US" dirty="0"/>
              <a:t> for accurate and automated analysis of medical images. The model is designed to precisely identify kidney regions by combining </a:t>
            </a:r>
            <a:r>
              <a:rPr lang="en-US" b="1" dirty="0"/>
              <a:t>nested skip connections, attention mechanisms, and deep supervision</a:t>
            </a:r>
            <a:r>
              <a:rPr lang="en-US" dirty="0"/>
              <a:t>, enabling better feature extraction and boundary localization. It is trained on the </a:t>
            </a:r>
            <a:r>
              <a:rPr lang="en-US" dirty="0">
                <a:solidFill>
                  <a:schemeClr val="tx1"/>
                </a:solidFill>
                <a:latin typeface="Canela Text" pitchFamily="2" charset="0"/>
                <a:cs typeface="Arial" panose="020B0604020202020204" pitchFamily="34" charset="0"/>
                <a:sym typeface="Graphik"/>
              </a:rPr>
              <a:t>KiTS19</a:t>
            </a:r>
            <a:r>
              <a:rPr lang="en-US" dirty="0"/>
              <a:t> to handle challenges such as </a:t>
            </a:r>
            <a:r>
              <a:rPr lang="en-US" b="1" dirty="0"/>
              <a:t>low contrast, anatomical variability, and background noise</a:t>
            </a:r>
            <a:r>
              <a:rPr lang="en-US" dirty="0"/>
              <a:t> commonly present in kidney imaging.</a:t>
            </a:r>
          </a:p>
          <a:p>
            <a:r>
              <a:rPr lang="en-US" dirty="0"/>
              <a:t>Advanced validation strategies such as </a:t>
            </a:r>
            <a:r>
              <a:rPr lang="en-US" b="1" dirty="0"/>
              <a:t>data augmentation, patient-wise splitting, and cross-validation</a:t>
            </a:r>
            <a:r>
              <a:rPr lang="en-US" dirty="0"/>
              <a:t> are used to improve the robustness and generalization of the model. While the proposed system performs effectively in segmenting kidney structures, challenges remain in cases with </a:t>
            </a:r>
            <a:r>
              <a:rPr lang="en-US" b="1" dirty="0"/>
              <a:t>unclear boundaries and highly complex anatomical variations</a:t>
            </a:r>
            <a:r>
              <a:rPr lang="en-US" dirty="0"/>
              <a:t>, indicating scope for future improvements using </a:t>
            </a:r>
            <a:r>
              <a:rPr lang="en-US" b="1" dirty="0"/>
              <a:t>hybrid attention modules, transformer-based architectures, and 3D segmentation techniques</a:t>
            </a:r>
            <a:r>
              <a:rPr lang="en-US" dirty="0"/>
              <a:t>.</a:t>
            </a:r>
          </a:p>
          <a:p>
            <a:endParaRPr dirty="0">
              <a:solidFill>
                <a:srgbClr val="FF0000"/>
              </a:solidFill>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12997-B8F6-AF3D-13FE-616719E6711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23EE45F-7AC8-8B5C-EBB5-EC3547E60CA0}"/>
              </a:ext>
            </a:extLst>
          </p:cNvPr>
          <p:cNvSpPr>
            <a:spLocks noGrp="1"/>
          </p:cNvSpPr>
          <p:nvPr>
            <p:ph type="sldNum" sz="quarter" idx="12"/>
          </p:nvPr>
        </p:nvSpPr>
        <p:spPr/>
        <p:txBody>
          <a:bodyPr/>
          <a:lstStyle/>
          <a:p>
            <a:pPr defTabSz="1828823">
              <a:lnSpc>
                <a:spcPct val="100000"/>
              </a:lnSpc>
              <a:defRPr/>
            </a:pPr>
            <a:fld id="{9B618960-8005-486C-9A75-10CB2AAC16F9}" type="slidenum">
              <a:rPr lang="en-US" kern="1200">
                <a:solidFill>
                  <a:prstClr val="black">
                    <a:tint val="75000"/>
                  </a:prstClr>
                </a:solidFill>
                <a:latin typeface="Calibri"/>
                <a:ea typeface="+mn-ea"/>
                <a:cs typeface="Arial"/>
                <a:sym typeface="Arial"/>
              </a:rPr>
              <a:pPr defTabSz="1828823">
                <a:lnSpc>
                  <a:spcPct val="100000"/>
                </a:lnSpc>
                <a:defRPr/>
              </a:pPr>
              <a:t>5</a:t>
            </a:fld>
            <a:endParaRPr lang="en-US" kern="1200" dirty="0">
              <a:solidFill>
                <a:prstClr val="black">
                  <a:tint val="75000"/>
                </a:prstClr>
              </a:solidFill>
              <a:latin typeface="Calibri"/>
              <a:ea typeface="+mn-ea"/>
              <a:cs typeface="Arial"/>
              <a:sym typeface="Arial"/>
            </a:endParaRPr>
          </a:p>
        </p:txBody>
      </p:sp>
      <p:sp>
        <p:nvSpPr>
          <p:cNvPr id="2" name="Google Shape;175;p25">
            <a:extLst>
              <a:ext uri="{FF2B5EF4-FFF2-40B4-BE49-F238E27FC236}">
                <a16:creationId xmlns:a16="http://schemas.microsoft.com/office/drawing/2014/main" id="{407009F7-764E-A68E-4E9F-41BCA4B3A330}"/>
              </a:ext>
            </a:extLst>
          </p:cNvPr>
          <p:cNvSpPr txBox="1">
            <a:spLocks/>
          </p:cNvSpPr>
          <p:nvPr/>
        </p:nvSpPr>
        <p:spPr>
          <a:xfrm>
            <a:off x="2482012" y="380015"/>
            <a:ext cx="19784291" cy="1145400"/>
          </a:xfrm>
          <a:prstGeom prst="rect">
            <a:avLst/>
          </a:prstGeom>
        </p:spPr>
        <p:txBody>
          <a:bodyPr spcFirstLastPara="1" vert="horz" wrap="square" lIns="182851" tIns="182851" rIns="182851" bIns="182851"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1828823">
              <a:spcBef>
                <a:spcPts val="0"/>
              </a:spcBef>
              <a:defRPr/>
            </a:pPr>
            <a:r>
              <a:rPr lang="en-IN" sz="8400" spc="-100" dirty="0">
                <a:solidFill>
                  <a:srgbClr val="000000"/>
                </a:solidFill>
                <a:latin typeface="Canela Bold"/>
                <a:ea typeface="Canela Bold"/>
                <a:cs typeface="Canela Bold"/>
              </a:rPr>
              <a:t>Objectives of the proposed work </a:t>
            </a:r>
          </a:p>
        </p:txBody>
      </p:sp>
      <p:grpSp>
        <p:nvGrpSpPr>
          <p:cNvPr id="19" name="Google Shape;181;p25">
            <a:extLst>
              <a:ext uri="{FF2B5EF4-FFF2-40B4-BE49-F238E27FC236}">
                <a16:creationId xmlns:a16="http://schemas.microsoft.com/office/drawing/2014/main" id="{F9DF777C-47BF-A746-B866-2F78A9580D70}"/>
              </a:ext>
            </a:extLst>
          </p:cNvPr>
          <p:cNvGrpSpPr/>
          <p:nvPr/>
        </p:nvGrpSpPr>
        <p:grpSpPr>
          <a:xfrm>
            <a:off x="2296658" y="8380763"/>
            <a:ext cx="20954077" cy="2255637"/>
            <a:chOff x="472021" y="1978925"/>
            <a:chExt cx="8441593" cy="1043427"/>
          </a:xfrm>
        </p:grpSpPr>
        <p:sp>
          <p:nvSpPr>
            <p:cNvPr id="20" name="Google Shape;182;p25">
              <a:extLst>
                <a:ext uri="{FF2B5EF4-FFF2-40B4-BE49-F238E27FC236}">
                  <a16:creationId xmlns:a16="http://schemas.microsoft.com/office/drawing/2014/main" id="{ED70B04A-0E70-49B4-E4CE-A7EA244ED867}"/>
                </a:ext>
              </a:extLst>
            </p:cNvPr>
            <p:cNvSpPr/>
            <p:nvPr/>
          </p:nvSpPr>
          <p:spPr>
            <a:xfrm>
              <a:off x="2123974" y="1978925"/>
              <a:ext cx="6789640" cy="1043427"/>
            </a:xfrm>
            <a:prstGeom prst="rect">
              <a:avLst/>
            </a:prstGeom>
            <a:solidFill>
              <a:schemeClr val="tx2">
                <a:lumMod val="20000"/>
                <a:lumOff val="80000"/>
              </a:schemeClr>
            </a:solidFill>
            <a:ln>
              <a:noFill/>
            </a:ln>
          </p:spPr>
          <p:txBody>
            <a:bodyPr spcFirstLastPara="1" wrap="square" lIns="182851" tIns="182851" rIns="182851" bIns="182851" anchor="ctr" anchorCtr="0">
              <a:noAutofit/>
            </a:bodyPr>
            <a:lstStyle/>
            <a:p>
              <a:pPr defTabSz="2438430" hangingPunct="1">
                <a:lnSpc>
                  <a:spcPct val="100000"/>
                </a:lnSpc>
                <a:spcBef>
                  <a:spcPts val="0"/>
                </a:spcBef>
                <a:buClr>
                  <a:srgbClr val="000000"/>
                </a:buClr>
                <a:defRPr/>
              </a:pPr>
              <a:endParaRPr sz="4000" dirty="0">
                <a:latin typeface="Arial"/>
                <a:cs typeface="Calibri" panose="020F0502020204030204" pitchFamily="34" charset="0"/>
                <a:sym typeface="Arial"/>
              </a:endParaRPr>
            </a:p>
          </p:txBody>
        </p:sp>
        <p:sp>
          <p:nvSpPr>
            <p:cNvPr id="21" name="Google Shape;183;p25">
              <a:extLst>
                <a:ext uri="{FF2B5EF4-FFF2-40B4-BE49-F238E27FC236}">
                  <a16:creationId xmlns:a16="http://schemas.microsoft.com/office/drawing/2014/main" id="{86A0528F-6D2E-0D4A-7E3D-667D16F754E4}"/>
                </a:ext>
              </a:extLst>
            </p:cNvPr>
            <p:cNvSpPr/>
            <p:nvPr/>
          </p:nvSpPr>
          <p:spPr>
            <a:xfrm>
              <a:off x="472021" y="2075689"/>
              <a:ext cx="1651953" cy="849900"/>
            </a:xfrm>
            <a:prstGeom prst="homePlate">
              <a:avLst>
                <a:gd name="adj" fmla="val 26719"/>
              </a:avLst>
            </a:prstGeom>
            <a:solidFill>
              <a:schemeClr val="accent6">
                <a:lumMod val="60000"/>
                <a:lumOff val="40000"/>
              </a:schemeClr>
            </a:solidFill>
            <a:ln>
              <a:noFill/>
            </a:ln>
          </p:spPr>
          <p:txBody>
            <a:bodyPr spcFirstLastPara="1" wrap="square" lIns="182851" tIns="182851" rIns="182851" bIns="182851" anchor="ctr" anchorCtr="0">
              <a:noAutofit/>
            </a:bodyPr>
            <a:lstStyle/>
            <a:p>
              <a:pPr defTabSz="1828823" hangingPunct="1">
                <a:lnSpc>
                  <a:spcPct val="100000"/>
                </a:lnSpc>
                <a:spcBef>
                  <a:spcPts val="0"/>
                </a:spcBef>
                <a:defRPr/>
              </a:pPr>
              <a:endParaRPr sz="4000" kern="1200" dirty="0">
                <a:solidFill>
                  <a:prstClr val="black"/>
                </a:solidFill>
                <a:latin typeface="Times New Roman" panose="02020603050405020304" pitchFamily="18" charset="0"/>
                <a:ea typeface="+mn-ea"/>
                <a:cs typeface="Times New Roman" panose="02020603050405020304" pitchFamily="18" charset="0"/>
                <a:sym typeface="Arial"/>
              </a:endParaRPr>
            </a:p>
          </p:txBody>
        </p:sp>
      </p:grpSp>
      <p:sp>
        <p:nvSpPr>
          <p:cNvPr id="23" name="TextBox 22">
            <a:extLst>
              <a:ext uri="{FF2B5EF4-FFF2-40B4-BE49-F238E27FC236}">
                <a16:creationId xmlns:a16="http://schemas.microsoft.com/office/drawing/2014/main" id="{50037009-0AD5-3832-8E8E-4598426E8B38}"/>
              </a:ext>
            </a:extLst>
          </p:cNvPr>
          <p:cNvSpPr txBox="1"/>
          <p:nvPr/>
        </p:nvSpPr>
        <p:spPr>
          <a:xfrm>
            <a:off x="2482015" y="9108472"/>
            <a:ext cx="3428259" cy="707886"/>
          </a:xfrm>
          <a:prstGeom prst="rect">
            <a:avLst/>
          </a:prstGeom>
          <a:noFill/>
        </p:spPr>
        <p:txBody>
          <a:bodyPr wrap="square">
            <a:spAutoFit/>
          </a:bodyPr>
          <a:lstStyle/>
          <a:p>
            <a:pPr defTabSz="1828823" hangingPunct="1">
              <a:lnSpc>
                <a:spcPct val="100000"/>
              </a:lnSpc>
              <a:spcBef>
                <a:spcPts val="0"/>
              </a:spcBef>
              <a:defRPr/>
            </a:pPr>
            <a:r>
              <a:rPr lang="en-IN" sz="4000" b="1" kern="1200" dirty="0">
                <a:latin typeface="Times New Roman" panose="02020603050405020304" pitchFamily="18" charset="0"/>
                <a:ea typeface="Tahoma" pitchFamily="34" charset="0"/>
                <a:cs typeface="Times New Roman" panose="02020603050405020304" pitchFamily="18" charset="0"/>
                <a:sym typeface="Arial"/>
              </a:rPr>
              <a:t>Objective 3</a:t>
            </a:r>
          </a:p>
        </p:txBody>
      </p:sp>
      <p:grpSp>
        <p:nvGrpSpPr>
          <p:cNvPr id="8" name="Google Shape;181;p25">
            <a:extLst>
              <a:ext uri="{FF2B5EF4-FFF2-40B4-BE49-F238E27FC236}">
                <a16:creationId xmlns:a16="http://schemas.microsoft.com/office/drawing/2014/main" id="{504F2AFE-CD56-C046-3373-BC3D0A676AE3}"/>
              </a:ext>
            </a:extLst>
          </p:cNvPr>
          <p:cNvGrpSpPr/>
          <p:nvPr/>
        </p:nvGrpSpPr>
        <p:grpSpPr>
          <a:xfrm>
            <a:off x="2296656" y="6158469"/>
            <a:ext cx="20874683" cy="1837280"/>
            <a:chOff x="472021" y="2075689"/>
            <a:chExt cx="8441593" cy="849900"/>
          </a:xfrm>
        </p:grpSpPr>
        <p:sp>
          <p:nvSpPr>
            <p:cNvPr id="13" name="Google Shape;182;p25">
              <a:extLst>
                <a:ext uri="{FF2B5EF4-FFF2-40B4-BE49-F238E27FC236}">
                  <a16:creationId xmlns:a16="http://schemas.microsoft.com/office/drawing/2014/main" id="{76CCABC4-9FB0-9016-FD17-40BDB12E496B}"/>
                </a:ext>
              </a:extLst>
            </p:cNvPr>
            <p:cNvSpPr/>
            <p:nvPr/>
          </p:nvSpPr>
          <p:spPr>
            <a:xfrm>
              <a:off x="2123974" y="2075689"/>
              <a:ext cx="6789640" cy="849900"/>
            </a:xfrm>
            <a:prstGeom prst="rect">
              <a:avLst/>
            </a:prstGeom>
            <a:solidFill>
              <a:schemeClr val="accent2">
                <a:lumMod val="20000"/>
                <a:lumOff val="80000"/>
              </a:schemeClr>
            </a:solidFill>
            <a:ln>
              <a:noFill/>
            </a:ln>
          </p:spPr>
          <p:txBody>
            <a:bodyPr spcFirstLastPara="1" wrap="square" lIns="182851" tIns="182851" rIns="182851" bIns="182851" anchor="ctr" anchorCtr="0">
              <a:noAutofit/>
            </a:bodyPr>
            <a:lstStyle/>
            <a:p>
              <a:pPr defTabSz="2438430" hangingPunct="1">
                <a:lnSpc>
                  <a:spcPct val="100000"/>
                </a:lnSpc>
                <a:spcBef>
                  <a:spcPts val="0"/>
                </a:spcBef>
                <a:buClr>
                  <a:srgbClr val="000000"/>
                </a:buClr>
                <a:defRPr/>
              </a:pPr>
              <a:r>
                <a:rPr lang="en-IN" sz="4000" kern="1200" dirty="0">
                  <a:solidFill>
                    <a:prstClr val="black"/>
                  </a:solidFill>
                  <a:latin typeface="Times New Roman" panose="02020603050405020304" pitchFamily="18" charset="0"/>
                  <a:ea typeface="+mn-ea"/>
                  <a:cs typeface="Times New Roman" panose="02020603050405020304" pitchFamily="18" charset="0"/>
                  <a:sym typeface="Arial"/>
                </a:rPr>
                <a:t>   </a:t>
              </a:r>
            </a:p>
            <a:p>
              <a:pPr defTabSz="1828823" hangingPunct="1">
                <a:lnSpc>
                  <a:spcPct val="100000"/>
                </a:lnSpc>
                <a:spcBef>
                  <a:spcPts val="0"/>
                </a:spcBef>
                <a:defRPr/>
              </a:pPr>
              <a:endParaRPr sz="4000" kern="1200" dirty="0">
                <a:solidFill>
                  <a:prstClr val="black"/>
                </a:solidFill>
                <a:latin typeface="Times New Roman" panose="02020603050405020304" pitchFamily="18" charset="0"/>
                <a:ea typeface="+mn-ea"/>
                <a:cs typeface="Times New Roman" panose="02020603050405020304" pitchFamily="18" charset="0"/>
                <a:sym typeface="Arial"/>
              </a:endParaRPr>
            </a:p>
          </p:txBody>
        </p:sp>
        <p:sp>
          <p:nvSpPr>
            <p:cNvPr id="14" name="Google Shape;183;p25">
              <a:extLst>
                <a:ext uri="{FF2B5EF4-FFF2-40B4-BE49-F238E27FC236}">
                  <a16:creationId xmlns:a16="http://schemas.microsoft.com/office/drawing/2014/main" id="{980E1426-1546-C038-2220-E019CF096066}"/>
                </a:ext>
              </a:extLst>
            </p:cNvPr>
            <p:cNvSpPr/>
            <p:nvPr/>
          </p:nvSpPr>
          <p:spPr>
            <a:xfrm>
              <a:off x="472021" y="2075689"/>
              <a:ext cx="1651953" cy="849900"/>
            </a:xfrm>
            <a:prstGeom prst="homePlate">
              <a:avLst>
                <a:gd name="adj" fmla="val 26719"/>
              </a:avLst>
            </a:prstGeom>
            <a:solidFill>
              <a:schemeClr val="accent2"/>
            </a:solidFill>
            <a:ln>
              <a:noFill/>
            </a:ln>
          </p:spPr>
          <p:txBody>
            <a:bodyPr spcFirstLastPara="1" wrap="square" lIns="182851" tIns="182851" rIns="182851" bIns="182851" anchor="ctr" anchorCtr="0">
              <a:noAutofit/>
            </a:bodyPr>
            <a:lstStyle/>
            <a:p>
              <a:pPr defTabSz="1828823" hangingPunct="1">
                <a:lnSpc>
                  <a:spcPct val="100000"/>
                </a:lnSpc>
                <a:spcBef>
                  <a:spcPts val="0"/>
                </a:spcBef>
                <a:defRPr/>
              </a:pPr>
              <a:endParaRPr sz="4000" kern="1200" dirty="0">
                <a:solidFill>
                  <a:prstClr val="black"/>
                </a:solidFill>
                <a:latin typeface="Times New Roman" panose="02020603050405020304" pitchFamily="18" charset="0"/>
                <a:ea typeface="+mn-ea"/>
                <a:cs typeface="Times New Roman" panose="02020603050405020304" pitchFamily="18" charset="0"/>
                <a:sym typeface="Arial"/>
              </a:endParaRPr>
            </a:p>
          </p:txBody>
        </p:sp>
      </p:grpSp>
      <p:sp>
        <p:nvSpPr>
          <p:cNvPr id="15" name="TextBox 14">
            <a:extLst>
              <a:ext uri="{FF2B5EF4-FFF2-40B4-BE49-F238E27FC236}">
                <a16:creationId xmlns:a16="http://schemas.microsoft.com/office/drawing/2014/main" id="{606248BB-D8DB-80C7-2067-A73781A780B3}"/>
              </a:ext>
            </a:extLst>
          </p:cNvPr>
          <p:cNvSpPr txBox="1"/>
          <p:nvPr/>
        </p:nvSpPr>
        <p:spPr>
          <a:xfrm>
            <a:off x="2482015" y="6677000"/>
            <a:ext cx="3428259" cy="707886"/>
          </a:xfrm>
          <a:prstGeom prst="rect">
            <a:avLst/>
          </a:prstGeom>
          <a:noFill/>
        </p:spPr>
        <p:txBody>
          <a:bodyPr wrap="square">
            <a:spAutoFit/>
          </a:bodyPr>
          <a:lstStyle/>
          <a:p>
            <a:pPr defTabSz="1828823" hangingPunct="1">
              <a:lnSpc>
                <a:spcPct val="100000"/>
              </a:lnSpc>
              <a:spcBef>
                <a:spcPts val="0"/>
              </a:spcBef>
              <a:defRPr/>
            </a:pPr>
            <a:r>
              <a:rPr lang="en-IN" sz="4000" b="1" kern="1200" dirty="0">
                <a:latin typeface="Times New Roman" panose="02020603050405020304" pitchFamily="18" charset="0"/>
                <a:ea typeface="Tahoma" pitchFamily="34" charset="0"/>
                <a:cs typeface="Times New Roman" panose="02020603050405020304" pitchFamily="18" charset="0"/>
                <a:sym typeface="Arial"/>
              </a:rPr>
              <a:t>Objective 2</a:t>
            </a:r>
          </a:p>
        </p:txBody>
      </p:sp>
      <p:grpSp>
        <p:nvGrpSpPr>
          <p:cNvPr id="16" name="Google Shape;181;p25">
            <a:extLst>
              <a:ext uri="{FF2B5EF4-FFF2-40B4-BE49-F238E27FC236}">
                <a16:creationId xmlns:a16="http://schemas.microsoft.com/office/drawing/2014/main" id="{8F309988-75CE-1FF8-49C0-C348AB66DC8E}"/>
              </a:ext>
            </a:extLst>
          </p:cNvPr>
          <p:cNvGrpSpPr/>
          <p:nvPr/>
        </p:nvGrpSpPr>
        <p:grpSpPr>
          <a:xfrm>
            <a:off x="2296654" y="3557185"/>
            <a:ext cx="20766197" cy="2006923"/>
            <a:chOff x="472021" y="2075689"/>
            <a:chExt cx="8675617" cy="928374"/>
          </a:xfrm>
        </p:grpSpPr>
        <p:sp>
          <p:nvSpPr>
            <p:cNvPr id="17" name="Google Shape;182;p25">
              <a:extLst>
                <a:ext uri="{FF2B5EF4-FFF2-40B4-BE49-F238E27FC236}">
                  <a16:creationId xmlns:a16="http://schemas.microsoft.com/office/drawing/2014/main" id="{A7975139-9AA4-8DE7-F3E5-33FB7698DBB2}"/>
                </a:ext>
              </a:extLst>
            </p:cNvPr>
            <p:cNvSpPr/>
            <p:nvPr/>
          </p:nvSpPr>
          <p:spPr>
            <a:xfrm>
              <a:off x="2141307" y="2096289"/>
              <a:ext cx="7006331" cy="907774"/>
            </a:xfrm>
            <a:prstGeom prst="rect">
              <a:avLst/>
            </a:prstGeom>
            <a:solidFill>
              <a:schemeClr val="accent6">
                <a:lumMod val="20000"/>
                <a:lumOff val="80000"/>
              </a:schemeClr>
            </a:solidFill>
            <a:ln>
              <a:noFill/>
            </a:ln>
          </p:spPr>
          <p:txBody>
            <a:bodyPr spcFirstLastPara="1" wrap="square" lIns="182851" tIns="182851" rIns="182851" bIns="182851" anchor="ctr" anchorCtr="0">
              <a:noAutofit/>
            </a:bodyPr>
            <a:lstStyle/>
            <a:p>
              <a:pPr defTabSz="2438430" hangingPunct="1">
                <a:lnSpc>
                  <a:spcPct val="100000"/>
                </a:lnSpc>
                <a:spcBef>
                  <a:spcPts val="0"/>
                </a:spcBef>
                <a:buClr>
                  <a:srgbClr val="000000"/>
                </a:buClr>
                <a:defRPr/>
              </a:pPr>
              <a:endParaRPr sz="4000" kern="1200" dirty="0">
                <a:solidFill>
                  <a:prstClr val="black"/>
                </a:solidFill>
                <a:latin typeface="Times New Roman" panose="02020603050405020304" pitchFamily="18" charset="0"/>
                <a:ea typeface="+mn-ea"/>
                <a:cs typeface="Times New Roman" panose="02020603050405020304" pitchFamily="18" charset="0"/>
                <a:sym typeface="Arial"/>
              </a:endParaRPr>
            </a:p>
          </p:txBody>
        </p:sp>
        <p:sp>
          <p:nvSpPr>
            <p:cNvPr id="18" name="Google Shape;183;p25">
              <a:extLst>
                <a:ext uri="{FF2B5EF4-FFF2-40B4-BE49-F238E27FC236}">
                  <a16:creationId xmlns:a16="http://schemas.microsoft.com/office/drawing/2014/main" id="{0EACE23B-5729-B730-79DD-CA9D282EA86B}"/>
                </a:ext>
              </a:extLst>
            </p:cNvPr>
            <p:cNvSpPr/>
            <p:nvPr/>
          </p:nvSpPr>
          <p:spPr>
            <a:xfrm>
              <a:off x="472021" y="2075689"/>
              <a:ext cx="1651953" cy="849900"/>
            </a:xfrm>
            <a:prstGeom prst="homePlate">
              <a:avLst>
                <a:gd name="adj" fmla="val 26719"/>
              </a:avLst>
            </a:prstGeom>
            <a:solidFill>
              <a:schemeClr val="accent1"/>
            </a:solidFill>
            <a:ln>
              <a:noFill/>
            </a:ln>
          </p:spPr>
          <p:txBody>
            <a:bodyPr spcFirstLastPara="1" wrap="square" lIns="182851" tIns="182851" rIns="182851" bIns="182851" anchor="ctr" anchorCtr="0">
              <a:noAutofit/>
            </a:bodyPr>
            <a:lstStyle/>
            <a:p>
              <a:pPr defTabSz="1828823" hangingPunct="1">
                <a:lnSpc>
                  <a:spcPct val="100000"/>
                </a:lnSpc>
                <a:spcBef>
                  <a:spcPts val="0"/>
                </a:spcBef>
                <a:defRPr/>
              </a:pPr>
              <a:endParaRPr sz="4000" kern="1200" dirty="0">
                <a:latin typeface="Times New Roman" panose="02020603050405020304" pitchFamily="18" charset="0"/>
                <a:ea typeface="+mn-ea"/>
                <a:cs typeface="Times New Roman" panose="02020603050405020304" pitchFamily="18" charset="0"/>
                <a:sym typeface="Arial"/>
              </a:endParaRPr>
            </a:p>
          </p:txBody>
        </p:sp>
      </p:grpSp>
      <p:sp>
        <p:nvSpPr>
          <p:cNvPr id="22" name="TextBox 21">
            <a:extLst>
              <a:ext uri="{FF2B5EF4-FFF2-40B4-BE49-F238E27FC236}">
                <a16:creationId xmlns:a16="http://schemas.microsoft.com/office/drawing/2014/main" id="{25A4ECF0-748F-C093-C93C-C4A50EA54C75}"/>
              </a:ext>
            </a:extLst>
          </p:cNvPr>
          <p:cNvSpPr txBox="1"/>
          <p:nvPr/>
        </p:nvSpPr>
        <p:spPr>
          <a:xfrm>
            <a:off x="2482012" y="4075715"/>
            <a:ext cx="3428259" cy="707886"/>
          </a:xfrm>
          <a:prstGeom prst="rect">
            <a:avLst/>
          </a:prstGeom>
          <a:noFill/>
        </p:spPr>
        <p:txBody>
          <a:bodyPr wrap="square">
            <a:spAutoFit/>
          </a:bodyPr>
          <a:lstStyle/>
          <a:p>
            <a:pPr defTabSz="1828823" hangingPunct="1">
              <a:lnSpc>
                <a:spcPct val="100000"/>
              </a:lnSpc>
              <a:spcBef>
                <a:spcPts val="0"/>
              </a:spcBef>
              <a:defRPr/>
            </a:pPr>
            <a:r>
              <a:rPr lang="en-IN" sz="4000" b="1" kern="1200" dirty="0">
                <a:latin typeface="Times New Roman" panose="02020603050405020304" pitchFamily="18" charset="0"/>
                <a:ea typeface="Tahoma" pitchFamily="34" charset="0"/>
                <a:cs typeface="Times New Roman" panose="02020603050405020304" pitchFamily="18" charset="0"/>
                <a:sym typeface="Arial"/>
              </a:rPr>
              <a:t>Objective 1</a:t>
            </a:r>
          </a:p>
        </p:txBody>
      </p:sp>
      <p:sp>
        <p:nvSpPr>
          <p:cNvPr id="4" name="TextBox 3">
            <a:extLst>
              <a:ext uri="{FF2B5EF4-FFF2-40B4-BE49-F238E27FC236}">
                <a16:creationId xmlns:a16="http://schemas.microsoft.com/office/drawing/2014/main" id="{4A9FD8D3-4EBB-49F5-C4A3-E59CB9583752}"/>
              </a:ext>
            </a:extLst>
          </p:cNvPr>
          <p:cNvSpPr txBox="1"/>
          <p:nvPr/>
        </p:nvSpPr>
        <p:spPr>
          <a:xfrm>
            <a:off x="6230678" y="3734996"/>
            <a:ext cx="16770548" cy="1671227"/>
          </a:xfrm>
          <a:prstGeom prst="rect">
            <a:avLst/>
          </a:prstGeom>
          <a:noFill/>
        </p:spPr>
        <p:txBody>
          <a:bodyPr wrap="square">
            <a:spAutoFit/>
          </a:bodyPr>
          <a:lstStyle/>
          <a:p>
            <a:r>
              <a:rPr lang="en-US" sz="3800" dirty="0"/>
              <a:t>To develop an </a:t>
            </a:r>
            <a:r>
              <a:rPr lang="en-US" sz="3800" b="1" dirty="0"/>
              <a:t>Attention U-Net++ based kidney segmentation system</a:t>
            </a:r>
            <a:r>
              <a:rPr lang="en-US" sz="3800" dirty="0"/>
              <a:t> for accurate and automated extraction of kidney regions from medical images, handling </a:t>
            </a:r>
            <a:r>
              <a:rPr lang="en-US" sz="3800" b="1" dirty="0"/>
              <a:t>low contrast and complex anatomical structures</a:t>
            </a:r>
            <a:r>
              <a:rPr lang="en-US" sz="3800" dirty="0"/>
              <a:t>.</a:t>
            </a:r>
            <a:endParaRPr lang="en-IN" sz="3800" dirty="0"/>
          </a:p>
        </p:txBody>
      </p:sp>
      <p:sp>
        <p:nvSpPr>
          <p:cNvPr id="7" name="TextBox 6">
            <a:extLst>
              <a:ext uri="{FF2B5EF4-FFF2-40B4-BE49-F238E27FC236}">
                <a16:creationId xmlns:a16="http://schemas.microsoft.com/office/drawing/2014/main" id="{52F11668-4B55-0E1E-2974-4C1F00971AF6}"/>
              </a:ext>
            </a:extLst>
          </p:cNvPr>
          <p:cNvSpPr txBox="1"/>
          <p:nvPr/>
        </p:nvSpPr>
        <p:spPr>
          <a:xfrm>
            <a:off x="6518170" y="6264626"/>
            <a:ext cx="16611600" cy="1671227"/>
          </a:xfrm>
          <a:prstGeom prst="rect">
            <a:avLst/>
          </a:prstGeom>
          <a:noFill/>
        </p:spPr>
        <p:txBody>
          <a:bodyPr wrap="square">
            <a:spAutoFit/>
          </a:bodyPr>
          <a:lstStyle/>
          <a:p>
            <a:r>
              <a:rPr lang="en-US" sz="3800" dirty="0"/>
              <a:t>To design a </a:t>
            </a:r>
            <a:r>
              <a:rPr lang="en-US" sz="3800" b="1" dirty="0"/>
              <a:t>robust feature learning framework</a:t>
            </a:r>
            <a:r>
              <a:rPr lang="en-US" sz="3800" dirty="0"/>
              <a:t> by integrating </a:t>
            </a:r>
            <a:r>
              <a:rPr lang="en-US" sz="3800" b="1" dirty="0"/>
              <a:t>attention mechanisms and nested skip connections</a:t>
            </a:r>
            <a:r>
              <a:rPr lang="en-US" sz="3800" dirty="0"/>
              <a:t> to improve segmentation accuracy and boundary detection.</a:t>
            </a:r>
            <a:endParaRPr lang="en-IN" sz="3800" dirty="0"/>
          </a:p>
        </p:txBody>
      </p:sp>
      <p:sp>
        <p:nvSpPr>
          <p:cNvPr id="10" name="TextBox 9">
            <a:extLst>
              <a:ext uri="{FF2B5EF4-FFF2-40B4-BE49-F238E27FC236}">
                <a16:creationId xmlns:a16="http://schemas.microsoft.com/office/drawing/2014/main" id="{BEBCB768-2B07-7178-4A58-23AFA78C59EA}"/>
              </a:ext>
            </a:extLst>
          </p:cNvPr>
          <p:cNvSpPr txBox="1"/>
          <p:nvPr/>
        </p:nvSpPr>
        <p:spPr>
          <a:xfrm>
            <a:off x="6518171" y="8574851"/>
            <a:ext cx="16611599" cy="1671227"/>
          </a:xfrm>
          <a:prstGeom prst="rect">
            <a:avLst/>
          </a:prstGeom>
          <a:noFill/>
        </p:spPr>
        <p:txBody>
          <a:bodyPr wrap="square">
            <a:spAutoFit/>
          </a:bodyPr>
          <a:lstStyle/>
          <a:p>
            <a:r>
              <a:rPr lang="en-US" sz="3800" dirty="0"/>
              <a:t>To implement </a:t>
            </a:r>
            <a:r>
              <a:rPr lang="en-US" sz="3800" b="1" dirty="0"/>
              <a:t>efficient training and validation strategies</a:t>
            </a:r>
            <a:r>
              <a:rPr lang="en-US" sz="3800" dirty="0"/>
              <a:t> such as data augmentation, patient-wise splitting, and cross-validation to ensure </a:t>
            </a:r>
            <a:r>
              <a:rPr lang="en-US" sz="3800" b="1" dirty="0"/>
              <a:t>generalization, reliability, and clinical applicability</a:t>
            </a:r>
            <a:r>
              <a:rPr lang="en-US" sz="3800" dirty="0"/>
              <a:t> of the model.</a:t>
            </a:r>
            <a:endParaRPr lang="en-IN" sz="3800" dirty="0"/>
          </a:p>
        </p:txBody>
      </p:sp>
    </p:spTree>
    <p:extLst>
      <p:ext uri="{BB962C8B-B14F-4D97-AF65-F5344CB8AC3E}">
        <p14:creationId xmlns:p14="http://schemas.microsoft.com/office/powerpoint/2010/main" val="3221134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Literature Survey"/>
          <p:cNvSpPr txBox="1">
            <a:spLocks noGrp="1"/>
          </p:cNvSpPr>
          <p:nvPr>
            <p:ph type="title"/>
          </p:nvPr>
        </p:nvSpPr>
        <p:spPr>
          <a:prstGeom prst="rect">
            <a:avLst/>
          </a:prstGeom>
        </p:spPr>
        <p:txBody>
          <a:bodyPr/>
          <a:lstStyle>
            <a:lvl1pPr>
              <a:defRPr spc="-100"/>
            </a:lvl1pPr>
          </a:lstStyle>
          <a:p>
            <a:r>
              <a:t>Literature Survey</a:t>
            </a:r>
          </a:p>
        </p:txBody>
      </p:sp>
      <p:sp>
        <p:nvSpPr>
          <p:cNvPr id="185" name="&lt;Insert&gt;"/>
          <p:cNvSpPr txBox="1">
            <a:spLocks noGrp="1"/>
          </p:cNvSpPr>
          <p:nvPr>
            <p:ph type="body" idx="1"/>
          </p:nvPr>
        </p:nvSpPr>
        <p:spPr>
          <a:xfrm>
            <a:off x="1551707" y="11311385"/>
            <a:ext cx="21948578" cy="683491"/>
          </a:xfrm>
          <a:prstGeom prst="rect">
            <a:avLst/>
          </a:prstGeom>
        </p:spPr>
        <p:txBody>
          <a:bodyPr>
            <a:noAutofit/>
          </a:bodyPr>
          <a:lstStyle>
            <a:lvl1pPr marL="0" indent="0">
              <a:buSzTx/>
              <a:buNone/>
            </a:lvl1pPr>
          </a:lstStyle>
          <a:p>
            <a:r>
              <a:rPr lang="en-IN" sz="4000" dirty="0">
                <a:solidFill>
                  <a:srgbClr val="FF0000"/>
                </a:solidFill>
              </a:rPr>
              <a:t>Base Paper-1 citation:</a:t>
            </a:r>
          </a:p>
          <a:p>
            <a:r>
              <a:rPr lang="en-US" sz="4000" dirty="0"/>
              <a:t>Zoellner, F. G., et al. (2021). </a:t>
            </a:r>
            <a:r>
              <a:rPr lang="en-US" sz="4000" i="1" dirty="0"/>
              <a:t>Kidney segmentation in renal magnetic resonance imaging – Current status and prospects</a:t>
            </a:r>
            <a:r>
              <a:rPr lang="en-US" sz="4000" dirty="0"/>
              <a:t>. </a:t>
            </a:r>
            <a:r>
              <a:rPr lang="en-US" sz="4000" b="1" dirty="0"/>
              <a:t>IEEE Access, 9</a:t>
            </a:r>
            <a:r>
              <a:rPr lang="en-US" sz="4000" dirty="0"/>
              <a:t>, 27037–27066.</a:t>
            </a:r>
            <a:endParaRPr sz="4000" dirty="0">
              <a:solidFill>
                <a:srgbClr val="FF0000"/>
              </a:solidFill>
            </a:endParaRPr>
          </a:p>
        </p:txBody>
      </p:sp>
      <p:sp>
        <p:nvSpPr>
          <p:cNvPr id="2" name="TextBox 1"/>
          <p:cNvSpPr txBox="1"/>
          <p:nvPr/>
        </p:nvSpPr>
        <p:spPr>
          <a:xfrm flipH="1">
            <a:off x="1551707" y="2547181"/>
            <a:ext cx="21316472" cy="17153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3600" b="1" i="0" u="none" strike="noStrike" cap="none" spc="0" normalizeH="0" baseline="0" dirty="0">
                <a:ln>
                  <a:noFill/>
                </a:ln>
                <a:solidFill>
                  <a:srgbClr val="000000"/>
                </a:solidFill>
                <a:effectLst/>
                <a:uFillTx/>
                <a:latin typeface="Canela Bold"/>
                <a:ea typeface="Canela Bold"/>
                <a:cs typeface="Canela Bold"/>
                <a:sym typeface="Canela Bold"/>
              </a:rPr>
              <a:t>Base paper-1</a:t>
            </a:r>
            <a:r>
              <a:rPr kumimoji="0" lang="en-IN" sz="3600" b="1" i="0" u="none" strike="noStrike" cap="none" spc="0" normalizeH="0" dirty="0">
                <a:ln>
                  <a:noFill/>
                </a:ln>
                <a:solidFill>
                  <a:srgbClr val="000000"/>
                </a:solidFill>
                <a:effectLst/>
                <a:uFillTx/>
                <a:latin typeface="Canela Bold"/>
                <a:ea typeface="Canela Bold"/>
                <a:cs typeface="Canela Bold"/>
                <a:sym typeface="Canela Bold"/>
              </a:rPr>
              <a:t> title:</a:t>
            </a:r>
          </a:p>
          <a:p>
            <a:r>
              <a:rPr lang="en-US" sz="3600" dirty="0"/>
              <a:t>Kidney Segmentation in Renal Magnetic Resonance Imaging – Current Status and Prospects</a:t>
            </a:r>
            <a:endParaRPr kumimoji="0" lang="en-IN" sz="3600" b="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6" name="TextBox 5"/>
          <p:cNvSpPr txBox="1"/>
          <p:nvPr/>
        </p:nvSpPr>
        <p:spPr>
          <a:xfrm flipH="1">
            <a:off x="1551707" y="4105384"/>
            <a:ext cx="13050982" cy="4208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sz="3600" b="1" dirty="0"/>
              <a:t>S</a:t>
            </a:r>
            <a:r>
              <a:rPr kumimoji="0" lang="en-IN" sz="3600" b="1" i="0" u="none" strike="noStrike" cap="none" spc="0" normalizeH="0" baseline="0" dirty="0">
                <a:ln>
                  <a:noFill/>
                </a:ln>
                <a:solidFill>
                  <a:srgbClr val="000000"/>
                </a:solidFill>
                <a:effectLst/>
                <a:uFillTx/>
                <a:latin typeface="Canela Bold"/>
                <a:ea typeface="Canela Bold"/>
                <a:cs typeface="Canela Bold"/>
                <a:sym typeface="Canela Bold"/>
              </a:rPr>
              <a:t>ummary:</a:t>
            </a:r>
          </a:p>
          <a:p>
            <a:r>
              <a:rPr lang="en-US" sz="3600" dirty="0"/>
              <a:t>This paper presents a survey of existing methods for kidney segmentation in renal MRI, including manual, semi-automatic, and deep learning-based approaches. It discusses the importance of accurate kidney segmentation for clinical diagnosis and volume estimation, while highlighting the challenges caused by low contrast, organ ambiguity, and variability in imaging data.</a:t>
            </a:r>
            <a:endParaRPr kumimoji="0" lang="en-IN" sz="3600" b="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7" name="TextBox 6"/>
          <p:cNvSpPr txBox="1"/>
          <p:nvPr/>
        </p:nvSpPr>
        <p:spPr>
          <a:xfrm flipH="1">
            <a:off x="1551708" y="8456282"/>
            <a:ext cx="12524509" cy="27125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3600" b="1" i="0" u="none" strike="noStrike" cap="none" spc="0" normalizeH="0" baseline="0" dirty="0">
                <a:ln>
                  <a:noFill/>
                </a:ln>
                <a:solidFill>
                  <a:srgbClr val="000000"/>
                </a:solidFill>
                <a:effectLst/>
                <a:uFillTx/>
                <a:latin typeface="Canela Bold"/>
                <a:ea typeface="Canela Bold"/>
                <a:cs typeface="Canela Bold"/>
                <a:sym typeface="Canela Bold"/>
              </a:rPr>
              <a:t>Research Gap Identified:</a:t>
            </a:r>
          </a:p>
          <a:p>
            <a:r>
              <a:rPr lang="en-US" sz="3600" dirty="0"/>
              <a:t>Existing methods either depend heavily on </a:t>
            </a:r>
            <a:r>
              <a:rPr lang="en-US" sz="3600" b="1" dirty="0"/>
              <a:t>manual intervention</a:t>
            </a:r>
            <a:r>
              <a:rPr lang="en-US" sz="3600" dirty="0"/>
              <a:t> or lack </a:t>
            </a:r>
            <a:r>
              <a:rPr lang="en-US" sz="3600" b="1" dirty="0"/>
              <a:t>robustness and generalization</a:t>
            </a:r>
            <a:r>
              <a:rPr lang="en-US" sz="3600" dirty="0"/>
              <a:t> for accurate automated kidney segmentation across different imaging conditions.</a:t>
            </a:r>
            <a:endParaRPr kumimoji="0" lang="en-IN" sz="3600" b="1"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11" name="TextBox 10"/>
          <p:cNvSpPr txBox="1"/>
          <p:nvPr/>
        </p:nvSpPr>
        <p:spPr>
          <a:xfrm flipH="1">
            <a:off x="15227729" y="5373099"/>
            <a:ext cx="11410471" cy="10197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b="1" dirty="0"/>
              <a:t>Diagram of the existing work</a:t>
            </a:r>
            <a:endParaRPr kumimoji="0" lang="en-IN" sz="4400" b="1" i="0" u="none" strike="noStrike" cap="none" spc="0" normalizeH="0" baseline="0" dirty="0">
              <a:ln>
                <a:noFill/>
              </a:ln>
              <a:solidFill>
                <a:srgbClr val="000000"/>
              </a:solidFill>
              <a:effectLst/>
              <a:uFillTx/>
              <a:latin typeface="Canela Bold"/>
              <a:ea typeface="Canela Bold"/>
              <a:cs typeface="Canela Bold"/>
              <a:sym typeface="Canela Bold"/>
            </a:endParaRPr>
          </a:p>
        </p:txBody>
      </p:sp>
      <p:pic>
        <p:nvPicPr>
          <p:cNvPr id="3" name="Picture 2">
            <a:extLst>
              <a:ext uri="{FF2B5EF4-FFF2-40B4-BE49-F238E27FC236}">
                <a16:creationId xmlns:a16="http://schemas.microsoft.com/office/drawing/2014/main" id="{B422D81F-7188-580E-3538-A5EFA998C1F2}"/>
              </a:ext>
            </a:extLst>
          </p:cNvPr>
          <p:cNvPicPr>
            <a:picLocks noChangeAspect="1"/>
          </p:cNvPicPr>
          <p:nvPr/>
        </p:nvPicPr>
        <p:blipFill>
          <a:blip r:embed="rId2"/>
          <a:stretch>
            <a:fillRect/>
          </a:stretch>
        </p:blipFill>
        <p:spPr>
          <a:xfrm>
            <a:off x="14812092" y="6724464"/>
            <a:ext cx="8229600" cy="5160712"/>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Literature Survey"/>
          <p:cNvSpPr txBox="1">
            <a:spLocks noGrp="1"/>
          </p:cNvSpPr>
          <p:nvPr>
            <p:ph type="title"/>
          </p:nvPr>
        </p:nvSpPr>
        <p:spPr>
          <a:prstGeom prst="rect">
            <a:avLst/>
          </a:prstGeom>
        </p:spPr>
        <p:txBody>
          <a:bodyPr/>
          <a:lstStyle>
            <a:lvl1pPr>
              <a:defRPr spc="-100"/>
            </a:lvl1pPr>
          </a:lstStyle>
          <a:p>
            <a:r>
              <a:t>Literature Survey</a:t>
            </a:r>
          </a:p>
        </p:txBody>
      </p:sp>
      <p:sp>
        <p:nvSpPr>
          <p:cNvPr id="185" name="&lt;Insert&gt;"/>
          <p:cNvSpPr txBox="1">
            <a:spLocks noGrp="1"/>
          </p:cNvSpPr>
          <p:nvPr>
            <p:ph type="body" idx="1"/>
          </p:nvPr>
        </p:nvSpPr>
        <p:spPr>
          <a:xfrm>
            <a:off x="1845348" y="11000680"/>
            <a:ext cx="21948578" cy="683491"/>
          </a:xfrm>
          <a:prstGeom prst="rect">
            <a:avLst/>
          </a:prstGeom>
        </p:spPr>
        <p:txBody>
          <a:bodyPr>
            <a:noAutofit/>
          </a:bodyPr>
          <a:lstStyle>
            <a:lvl1pPr marL="0" indent="0">
              <a:buSzTx/>
              <a:buNone/>
            </a:lvl1pPr>
          </a:lstStyle>
          <a:p>
            <a:r>
              <a:rPr lang="en-IN" sz="3600" dirty="0">
                <a:solidFill>
                  <a:srgbClr val="FF0000"/>
                </a:solidFill>
              </a:rPr>
              <a:t>Base Paper-2 citation:</a:t>
            </a:r>
          </a:p>
          <a:p>
            <a:r>
              <a:rPr lang="en-US" sz="3600" dirty="0"/>
              <a:t>Naqvi, N. Z., &amp; </a:t>
            </a:r>
            <a:r>
              <a:rPr lang="en-US" sz="3600" dirty="0" err="1"/>
              <a:t>Seeja</a:t>
            </a:r>
            <a:r>
              <a:rPr lang="en-US" sz="3600" dirty="0"/>
              <a:t>, K. R. (2025). </a:t>
            </a:r>
            <a:r>
              <a:rPr lang="en-US" sz="3600" i="1" dirty="0"/>
              <a:t>An Attention-Based Residual U-Net for </a:t>
            </a:r>
          </a:p>
          <a:p>
            <a:r>
              <a:rPr lang="en-US" sz="3600" i="1" dirty="0" err="1"/>
              <a:t>Tumour</a:t>
            </a:r>
            <a:r>
              <a:rPr lang="en-US" sz="3600" i="1" dirty="0"/>
              <a:t> Segmentation</a:t>
            </a:r>
            <a:r>
              <a:rPr lang="en-US" sz="3600" dirty="0"/>
              <a:t>. </a:t>
            </a:r>
            <a:r>
              <a:rPr lang="en-US" sz="3600" b="1" dirty="0"/>
              <a:t>IEEE Access</a:t>
            </a:r>
            <a:r>
              <a:rPr lang="en-US" sz="3600" dirty="0"/>
              <a:t>.</a:t>
            </a:r>
            <a:endParaRPr sz="3600" dirty="0">
              <a:solidFill>
                <a:srgbClr val="FF0000"/>
              </a:solidFill>
            </a:endParaRPr>
          </a:p>
        </p:txBody>
      </p:sp>
      <p:sp>
        <p:nvSpPr>
          <p:cNvPr id="2" name="TextBox 1"/>
          <p:cNvSpPr txBox="1"/>
          <p:nvPr/>
        </p:nvSpPr>
        <p:spPr>
          <a:xfrm flipH="1">
            <a:off x="1848327" y="2240508"/>
            <a:ext cx="21945599" cy="18261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4400" b="1" i="0" u="none" strike="noStrike" cap="none" spc="0" normalizeH="0" baseline="0" dirty="0">
                <a:ln>
                  <a:noFill/>
                </a:ln>
                <a:solidFill>
                  <a:srgbClr val="000000"/>
                </a:solidFill>
                <a:effectLst/>
                <a:uFillTx/>
                <a:latin typeface="Canela Bold"/>
                <a:ea typeface="Canela Bold"/>
                <a:cs typeface="Canela Bold"/>
                <a:sym typeface="Canela Bold"/>
              </a:rPr>
              <a:t>Base paper-2</a:t>
            </a:r>
            <a:r>
              <a:rPr kumimoji="0" lang="en-IN" sz="4400" b="1" i="0" u="none" strike="noStrike" cap="none" spc="0" normalizeH="0" dirty="0">
                <a:ln>
                  <a:noFill/>
                </a:ln>
                <a:solidFill>
                  <a:srgbClr val="000000"/>
                </a:solidFill>
                <a:effectLst/>
                <a:uFillTx/>
                <a:latin typeface="Canela Bold"/>
                <a:ea typeface="Canela Bold"/>
                <a:cs typeface="Canela Bold"/>
                <a:sym typeface="Canela Bold"/>
              </a:rPr>
              <a:t> title:</a:t>
            </a:r>
          </a:p>
          <a:p>
            <a:r>
              <a:rPr lang="en-US" sz="3600" dirty="0"/>
              <a:t>An Attention-Based Residual U-Net for </a:t>
            </a:r>
            <a:r>
              <a:rPr lang="en-US" sz="3600" dirty="0" err="1"/>
              <a:t>Tumour</a:t>
            </a:r>
            <a:r>
              <a:rPr lang="en-US" sz="3600" dirty="0"/>
              <a:t> Segmentation Using Multi-Modal MRI Brain Images</a:t>
            </a:r>
            <a:endParaRPr kumimoji="0" lang="en-IN" sz="3600" b="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6" name="TextBox 5"/>
          <p:cNvSpPr txBox="1"/>
          <p:nvPr/>
        </p:nvSpPr>
        <p:spPr>
          <a:xfrm flipH="1">
            <a:off x="1848325" y="4107466"/>
            <a:ext cx="13447092" cy="37097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sz="3600" b="1" dirty="0"/>
              <a:t>S</a:t>
            </a:r>
            <a:r>
              <a:rPr kumimoji="0" lang="en-IN" sz="3600" b="1" i="0" u="none" strike="noStrike" cap="none" spc="0" normalizeH="0" baseline="0" dirty="0">
                <a:ln>
                  <a:noFill/>
                </a:ln>
                <a:solidFill>
                  <a:srgbClr val="000000"/>
                </a:solidFill>
                <a:effectLst/>
                <a:uFillTx/>
                <a:latin typeface="Canela Bold"/>
                <a:ea typeface="Canela Bold"/>
                <a:cs typeface="Canela Bold"/>
                <a:sym typeface="Canela Bold"/>
              </a:rPr>
              <a:t>ummary:</a:t>
            </a:r>
          </a:p>
          <a:p>
            <a:r>
              <a:rPr lang="en-US" sz="3600" dirty="0"/>
              <a:t>This paper proposes a Residual U-Net integrated with attention mechanisms for accurate tumor segmentation in MRI images. It combines multi-scale feature extraction, residual learning, and attention modules to improve segmentation performance, especially for irregular shapes and complex regions.</a:t>
            </a:r>
            <a:endParaRPr kumimoji="0" lang="en-IN" sz="360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7" name="TextBox 6"/>
          <p:cNvSpPr txBox="1"/>
          <p:nvPr/>
        </p:nvSpPr>
        <p:spPr>
          <a:xfrm flipH="1">
            <a:off x="1848325" y="7974743"/>
            <a:ext cx="12920619" cy="27125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3600" b="1" i="0" u="none" strike="noStrike" cap="none" spc="0" normalizeH="0" baseline="0" dirty="0">
                <a:ln>
                  <a:noFill/>
                </a:ln>
                <a:solidFill>
                  <a:srgbClr val="000000"/>
                </a:solidFill>
                <a:effectLst/>
                <a:uFillTx/>
                <a:latin typeface="Canela Bold"/>
                <a:ea typeface="Canela Bold"/>
                <a:cs typeface="Canela Bold"/>
                <a:sym typeface="Canela Bold"/>
              </a:rPr>
              <a:t>Research Gap Identified:</a:t>
            </a:r>
          </a:p>
          <a:p>
            <a:r>
              <a:rPr lang="en-US" sz="3600" dirty="0"/>
              <a:t>The model has high architectural complexity and may not generalize well to different datasets or organ-specific segmentation tasks like kidney segmentation.</a:t>
            </a:r>
            <a:endParaRPr kumimoji="0" lang="en-IN" sz="360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11" name="TextBox 10"/>
          <p:cNvSpPr txBox="1"/>
          <p:nvPr/>
        </p:nvSpPr>
        <p:spPr>
          <a:xfrm flipH="1">
            <a:off x="16240362" y="5123688"/>
            <a:ext cx="11410471" cy="10197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dirty="0"/>
              <a:t>Diagram of the existing work</a:t>
            </a:r>
            <a:endParaRPr kumimoji="0" lang="en-IN" sz="4400" b="0" i="0" u="none" strike="noStrike" cap="none" spc="0" normalizeH="0" baseline="0" dirty="0">
              <a:ln>
                <a:noFill/>
              </a:ln>
              <a:solidFill>
                <a:srgbClr val="000000"/>
              </a:solidFill>
              <a:effectLst/>
              <a:uFillTx/>
              <a:latin typeface="Canela Bold"/>
              <a:ea typeface="Canela Bold"/>
              <a:cs typeface="Canela Bold"/>
              <a:sym typeface="Canela Bold"/>
            </a:endParaRPr>
          </a:p>
        </p:txBody>
      </p:sp>
      <p:pic>
        <p:nvPicPr>
          <p:cNvPr id="8" name="Picture 7">
            <a:extLst>
              <a:ext uri="{FF2B5EF4-FFF2-40B4-BE49-F238E27FC236}">
                <a16:creationId xmlns:a16="http://schemas.microsoft.com/office/drawing/2014/main" id="{B7B76DB2-10FD-F5F5-FD8B-620E1AF79129}"/>
              </a:ext>
            </a:extLst>
          </p:cNvPr>
          <p:cNvPicPr>
            <a:picLocks noChangeAspect="1"/>
          </p:cNvPicPr>
          <p:nvPr/>
        </p:nvPicPr>
        <p:blipFill>
          <a:blip r:embed="rId2"/>
          <a:stretch>
            <a:fillRect/>
          </a:stretch>
        </p:blipFill>
        <p:spPr>
          <a:xfrm>
            <a:off x="16432809" y="6209748"/>
            <a:ext cx="7162800" cy="6116046"/>
          </a:xfrm>
          <a:prstGeom prst="rect">
            <a:avLst/>
          </a:prstGeom>
        </p:spPr>
      </p:pic>
    </p:spTree>
    <p:extLst>
      <p:ext uri="{BB962C8B-B14F-4D97-AF65-F5344CB8AC3E}">
        <p14:creationId xmlns:p14="http://schemas.microsoft.com/office/powerpoint/2010/main" val="410547652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Literature Survey"/>
          <p:cNvSpPr txBox="1">
            <a:spLocks noGrp="1"/>
          </p:cNvSpPr>
          <p:nvPr>
            <p:ph type="title"/>
          </p:nvPr>
        </p:nvSpPr>
        <p:spPr>
          <a:prstGeom prst="rect">
            <a:avLst/>
          </a:prstGeom>
        </p:spPr>
        <p:txBody>
          <a:bodyPr/>
          <a:lstStyle>
            <a:lvl1pPr>
              <a:defRPr spc="-100"/>
            </a:lvl1pPr>
          </a:lstStyle>
          <a:p>
            <a:r>
              <a:t>Literature Survey</a:t>
            </a:r>
          </a:p>
        </p:txBody>
      </p:sp>
      <p:sp>
        <p:nvSpPr>
          <p:cNvPr id="185" name="&lt;Insert&gt;"/>
          <p:cNvSpPr txBox="1">
            <a:spLocks noGrp="1"/>
          </p:cNvSpPr>
          <p:nvPr>
            <p:ph type="body" idx="1"/>
          </p:nvPr>
        </p:nvSpPr>
        <p:spPr>
          <a:xfrm>
            <a:off x="1848324" y="11714485"/>
            <a:ext cx="21948578" cy="683491"/>
          </a:xfrm>
          <a:prstGeom prst="rect">
            <a:avLst/>
          </a:prstGeom>
        </p:spPr>
        <p:txBody>
          <a:bodyPr>
            <a:noAutofit/>
          </a:bodyPr>
          <a:lstStyle>
            <a:lvl1pPr marL="0" indent="0">
              <a:buSzTx/>
              <a:buNone/>
            </a:lvl1pPr>
          </a:lstStyle>
          <a:p>
            <a:r>
              <a:rPr lang="en-IN" sz="3600" dirty="0">
                <a:solidFill>
                  <a:srgbClr val="FF0000"/>
                </a:solidFill>
              </a:rPr>
              <a:t>Base Paper-3 citation:</a:t>
            </a:r>
          </a:p>
          <a:p>
            <a:r>
              <a:rPr lang="en-IN" sz="3600" dirty="0" err="1"/>
              <a:t>Wisaeng</a:t>
            </a:r>
            <a:r>
              <a:rPr lang="en-IN" sz="3600" dirty="0"/>
              <a:t>, K. (2023). </a:t>
            </a:r>
            <a:r>
              <a:rPr lang="en-IN" sz="3600" i="1" dirty="0"/>
              <a:t>U-Net++ DSM: Improved U-Net++ for medical image segmentation</a:t>
            </a:r>
            <a:r>
              <a:rPr lang="en-IN" sz="3600" dirty="0"/>
              <a:t>. </a:t>
            </a:r>
            <a:r>
              <a:rPr lang="en-IN" sz="3600" b="1" dirty="0"/>
              <a:t>IEEE Access</a:t>
            </a:r>
            <a:r>
              <a:rPr lang="en-IN" sz="3600" dirty="0"/>
              <a:t>.</a:t>
            </a:r>
            <a:endParaRPr sz="3600" dirty="0">
              <a:solidFill>
                <a:srgbClr val="FF0000"/>
              </a:solidFill>
            </a:endParaRPr>
          </a:p>
        </p:txBody>
      </p:sp>
      <p:sp>
        <p:nvSpPr>
          <p:cNvPr id="2" name="TextBox 1"/>
          <p:cNvSpPr txBox="1"/>
          <p:nvPr/>
        </p:nvSpPr>
        <p:spPr>
          <a:xfrm flipH="1">
            <a:off x="1805796" y="1987210"/>
            <a:ext cx="19127454" cy="23247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4400" b="1" i="0" u="none" strike="noStrike" cap="none" spc="0" normalizeH="0" baseline="0" dirty="0">
                <a:ln>
                  <a:noFill/>
                </a:ln>
                <a:solidFill>
                  <a:srgbClr val="000000"/>
                </a:solidFill>
                <a:effectLst/>
                <a:uFillTx/>
                <a:latin typeface="Canela Bold"/>
                <a:ea typeface="Canela Bold"/>
                <a:cs typeface="Canela Bold"/>
                <a:sym typeface="Canela Bold"/>
              </a:rPr>
              <a:t>Base paper-3</a:t>
            </a:r>
            <a:r>
              <a:rPr kumimoji="0" lang="en-IN" sz="4400" b="1" i="0" u="none" strike="noStrike" cap="none" spc="0" normalizeH="0" dirty="0">
                <a:ln>
                  <a:noFill/>
                </a:ln>
                <a:solidFill>
                  <a:srgbClr val="000000"/>
                </a:solidFill>
                <a:effectLst/>
                <a:uFillTx/>
                <a:latin typeface="Canela Bold"/>
                <a:ea typeface="Canela Bold"/>
                <a:cs typeface="Canela Bold"/>
                <a:sym typeface="Canela Bold"/>
              </a:rPr>
              <a:t> title:</a:t>
            </a:r>
          </a:p>
          <a:p>
            <a:r>
              <a:rPr lang="en-US" sz="3600" dirty="0">
                <a:latin typeface="Canela Text" pitchFamily="2" charset="0"/>
                <a:cs typeface="Arial" panose="020B0604020202020204" pitchFamily="34" charset="0"/>
              </a:rPr>
              <a:t>U-Net++DSM: Improved U-Net++ for Brain Tumor Segmentation With Deep Supervision Mechanism</a:t>
            </a:r>
            <a:endParaRPr kumimoji="0" lang="en-IN" sz="3600" b="0" i="0" u="none" strike="noStrike" cap="none" spc="0" normalizeH="0" baseline="0" dirty="0">
              <a:ln>
                <a:noFill/>
              </a:ln>
              <a:solidFill>
                <a:srgbClr val="000000"/>
              </a:solidFill>
              <a:effectLst/>
              <a:uFillTx/>
              <a:latin typeface="Canela Text" pitchFamily="2" charset="0"/>
              <a:cs typeface="Arial" panose="020B0604020202020204" pitchFamily="34" charset="0"/>
              <a:sym typeface="Canela Bold"/>
            </a:endParaRPr>
          </a:p>
        </p:txBody>
      </p:sp>
      <p:sp>
        <p:nvSpPr>
          <p:cNvPr id="6" name="TextBox 5"/>
          <p:cNvSpPr txBox="1"/>
          <p:nvPr/>
        </p:nvSpPr>
        <p:spPr>
          <a:xfrm flipH="1">
            <a:off x="1805796" y="4487094"/>
            <a:ext cx="12782074" cy="3820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b="1" dirty="0"/>
              <a:t>S</a:t>
            </a:r>
            <a:r>
              <a:rPr kumimoji="0" lang="en-IN" sz="4400" b="1" i="0" u="none" strike="noStrike" cap="none" spc="0" normalizeH="0" baseline="0" dirty="0">
                <a:ln>
                  <a:noFill/>
                </a:ln>
                <a:solidFill>
                  <a:srgbClr val="000000"/>
                </a:solidFill>
                <a:effectLst/>
                <a:uFillTx/>
                <a:latin typeface="Canela Bold"/>
                <a:ea typeface="Canela Bold"/>
                <a:cs typeface="Canela Bold"/>
                <a:sym typeface="Canela Bold"/>
              </a:rPr>
              <a:t>ummary</a:t>
            </a:r>
            <a:r>
              <a:rPr kumimoji="0" lang="en-IN" sz="4400" b="0" i="0" u="none" strike="noStrike" cap="none" spc="0" normalizeH="0" baseline="0" dirty="0">
                <a:ln>
                  <a:noFill/>
                </a:ln>
                <a:solidFill>
                  <a:srgbClr val="000000"/>
                </a:solidFill>
                <a:effectLst/>
                <a:uFillTx/>
                <a:latin typeface="Canela Bold"/>
                <a:ea typeface="Canela Bold"/>
                <a:cs typeface="Canela Bold"/>
                <a:sym typeface="Canela Bold"/>
              </a:rPr>
              <a:t>:</a:t>
            </a:r>
          </a:p>
          <a:p>
            <a:r>
              <a:rPr lang="en-US" sz="3600" dirty="0">
                <a:latin typeface="Canela Text" pitchFamily="2" charset="0"/>
                <a:cs typeface="Arial" panose="020B0604020202020204" pitchFamily="34" charset="0"/>
              </a:rPr>
              <a:t>This paper introduces U-Net++ architecture with deep supervision, which enhances segmentation by improving feature propagation and gradient flow. The use of nested skip connections helps capture multi-scale features and improves segmentation accuracy.</a:t>
            </a:r>
            <a:endParaRPr kumimoji="0" lang="en-IN" sz="3600" b="0" i="0" u="none" strike="noStrike" cap="none" spc="0" normalizeH="0" baseline="0" dirty="0">
              <a:ln>
                <a:noFill/>
              </a:ln>
              <a:solidFill>
                <a:srgbClr val="000000"/>
              </a:solidFill>
              <a:effectLst/>
              <a:uFillTx/>
              <a:latin typeface="Canela Text" pitchFamily="2" charset="0"/>
              <a:cs typeface="Arial" panose="020B0604020202020204" pitchFamily="34" charset="0"/>
              <a:sym typeface="Canela Bold"/>
            </a:endParaRPr>
          </a:p>
        </p:txBody>
      </p:sp>
      <p:sp>
        <p:nvSpPr>
          <p:cNvPr id="7" name="TextBox 6"/>
          <p:cNvSpPr txBox="1"/>
          <p:nvPr/>
        </p:nvSpPr>
        <p:spPr>
          <a:xfrm flipH="1">
            <a:off x="1848324" y="8677892"/>
            <a:ext cx="12366439" cy="28233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4400" b="1" i="0" u="none" strike="noStrike" cap="none" spc="0" normalizeH="0" baseline="0" dirty="0">
                <a:ln>
                  <a:noFill/>
                </a:ln>
                <a:solidFill>
                  <a:srgbClr val="000000"/>
                </a:solidFill>
                <a:effectLst/>
                <a:uFillTx/>
                <a:latin typeface="Canela Bold"/>
                <a:ea typeface="Canela Bold"/>
                <a:cs typeface="Canela Bold"/>
                <a:sym typeface="Canela Bold"/>
              </a:rPr>
              <a:t>Research Gap Identified:</a:t>
            </a:r>
          </a:p>
          <a:p>
            <a:r>
              <a:rPr lang="en-US" sz="3600" dirty="0">
                <a:latin typeface="Canela Text" pitchFamily="2" charset="0"/>
                <a:cs typeface="Arial" panose="020B0604020202020204" pitchFamily="34" charset="0"/>
              </a:rPr>
              <a:t>The model is computationally expensive and may require additional optimization and tuning for real-time or large-scale clinical applications.</a:t>
            </a:r>
            <a:endParaRPr kumimoji="0" lang="en-IN" sz="3600" i="0" u="none" strike="noStrike" cap="none" spc="0" normalizeH="0" baseline="0" dirty="0">
              <a:ln>
                <a:noFill/>
              </a:ln>
              <a:solidFill>
                <a:srgbClr val="000000"/>
              </a:solidFill>
              <a:effectLst/>
              <a:uFillTx/>
              <a:latin typeface="Canela Text" pitchFamily="2" charset="0"/>
              <a:cs typeface="Arial" panose="020B0604020202020204" pitchFamily="34" charset="0"/>
              <a:sym typeface="Canela Bold"/>
            </a:endParaRPr>
          </a:p>
        </p:txBody>
      </p:sp>
      <p:sp>
        <p:nvSpPr>
          <p:cNvPr id="11" name="TextBox 10"/>
          <p:cNvSpPr txBox="1"/>
          <p:nvPr/>
        </p:nvSpPr>
        <p:spPr>
          <a:xfrm flipH="1">
            <a:off x="15901150" y="3799949"/>
            <a:ext cx="11410471" cy="10197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dirty="0"/>
              <a:t>Diagram of the existing work</a:t>
            </a:r>
            <a:endParaRPr kumimoji="0" lang="en-IN" sz="4400" b="0" i="0" u="none" strike="noStrike" cap="none" spc="0" normalizeH="0" baseline="0" dirty="0">
              <a:ln>
                <a:noFill/>
              </a:ln>
              <a:solidFill>
                <a:srgbClr val="000000"/>
              </a:solidFill>
              <a:effectLst/>
              <a:uFillTx/>
              <a:latin typeface="Canela Bold"/>
              <a:ea typeface="Canela Bold"/>
              <a:cs typeface="Canela Bold"/>
              <a:sym typeface="Canela Bold"/>
            </a:endParaRPr>
          </a:p>
        </p:txBody>
      </p:sp>
      <p:pic>
        <p:nvPicPr>
          <p:cNvPr id="4" name="Picture 3">
            <a:extLst>
              <a:ext uri="{FF2B5EF4-FFF2-40B4-BE49-F238E27FC236}">
                <a16:creationId xmlns:a16="http://schemas.microsoft.com/office/drawing/2014/main" id="{15A3E9AF-E0CD-DBCA-D252-12E6941D8781}"/>
              </a:ext>
            </a:extLst>
          </p:cNvPr>
          <p:cNvPicPr>
            <a:picLocks noChangeAspect="1"/>
          </p:cNvPicPr>
          <p:nvPr/>
        </p:nvPicPr>
        <p:blipFill>
          <a:blip r:embed="rId2"/>
          <a:stretch>
            <a:fillRect/>
          </a:stretch>
        </p:blipFill>
        <p:spPr>
          <a:xfrm>
            <a:off x="15858620" y="4937034"/>
            <a:ext cx="7515412" cy="6099564"/>
          </a:xfrm>
          <a:prstGeom prst="rect">
            <a:avLst/>
          </a:prstGeom>
        </p:spPr>
      </p:pic>
    </p:spTree>
    <p:extLst>
      <p:ext uri="{BB962C8B-B14F-4D97-AF65-F5344CB8AC3E}">
        <p14:creationId xmlns:p14="http://schemas.microsoft.com/office/powerpoint/2010/main" val="4018188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Literature Survey"/>
          <p:cNvSpPr txBox="1">
            <a:spLocks noGrp="1"/>
          </p:cNvSpPr>
          <p:nvPr>
            <p:ph type="title"/>
          </p:nvPr>
        </p:nvSpPr>
        <p:spPr>
          <a:prstGeom prst="rect">
            <a:avLst/>
          </a:prstGeom>
        </p:spPr>
        <p:txBody>
          <a:bodyPr/>
          <a:lstStyle>
            <a:lvl1pPr>
              <a:defRPr spc="-100"/>
            </a:lvl1pPr>
          </a:lstStyle>
          <a:p>
            <a:r>
              <a:t>Literature Survey</a:t>
            </a:r>
          </a:p>
        </p:txBody>
      </p:sp>
      <p:sp>
        <p:nvSpPr>
          <p:cNvPr id="185" name="&lt;Insert&gt;"/>
          <p:cNvSpPr txBox="1">
            <a:spLocks noGrp="1"/>
          </p:cNvSpPr>
          <p:nvPr>
            <p:ph type="body" idx="1"/>
          </p:nvPr>
        </p:nvSpPr>
        <p:spPr>
          <a:xfrm>
            <a:off x="1848327" y="10444435"/>
            <a:ext cx="21948578" cy="683491"/>
          </a:xfrm>
          <a:prstGeom prst="rect">
            <a:avLst/>
          </a:prstGeom>
        </p:spPr>
        <p:txBody>
          <a:bodyPr>
            <a:noAutofit/>
          </a:bodyPr>
          <a:lstStyle>
            <a:lvl1pPr marL="0" indent="0">
              <a:buSzTx/>
              <a:buNone/>
            </a:lvl1pPr>
          </a:lstStyle>
          <a:p>
            <a:r>
              <a:rPr lang="en-IN" sz="3600" dirty="0">
                <a:solidFill>
                  <a:srgbClr val="FF0000"/>
                </a:solidFill>
              </a:rPr>
              <a:t>Base Paper-4 citation:</a:t>
            </a:r>
          </a:p>
          <a:p>
            <a:r>
              <a:rPr lang="en-IN" sz="3600" dirty="0"/>
              <a:t>Afnaan, K., et al. (2024). </a:t>
            </a:r>
            <a:r>
              <a:rPr lang="en-IN" sz="3600" i="1" dirty="0" err="1"/>
              <a:t>VisioRenalNet</a:t>
            </a:r>
            <a:r>
              <a:rPr lang="en-IN" sz="3600" i="1" dirty="0"/>
              <a:t>: Spatial vision transformer </a:t>
            </a:r>
            <a:r>
              <a:rPr lang="en-IN" sz="3600" i="1" dirty="0" err="1"/>
              <a:t>UNet</a:t>
            </a:r>
            <a:r>
              <a:rPr lang="en-IN" sz="3600" i="1" dirty="0"/>
              <a:t> for enhanced T2-weighted kidney MRI segmentation</a:t>
            </a:r>
            <a:r>
              <a:rPr lang="en-IN" sz="3600" dirty="0"/>
              <a:t>. </a:t>
            </a:r>
            <a:r>
              <a:rPr lang="en-IN" sz="3600" b="1" dirty="0"/>
              <a:t>Procedia Computer Science</a:t>
            </a:r>
            <a:r>
              <a:rPr lang="en-IN" sz="3600" dirty="0"/>
              <a:t>.</a:t>
            </a:r>
            <a:endParaRPr sz="3600" dirty="0">
              <a:solidFill>
                <a:srgbClr val="FF0000"/>
              </a:solidFill>
            </a:endParaRPr>
          </a:p>
        </p:txBody>
      </p:sp>
      <p:sp>
        <p:nvSpPr>
          <p:cNvPr id="2" name="TextBox 1"/>
          <p:cNvSpPr txBox="1"/>
          <p:nvPr/>
        </p:nvSpPr>
        <p:spPr>
          <a:xfrm flipH="1">
            <a:off x="1848328" y="2209901"/>
            <a:ext cx="21651959" cy="18261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4400" b="1" i="0" u="none" strike="noStrike" cap="none" spc="0" normalizeH="0" baseline="0" dirty="0">
                <a:ln>
                  <a:noFill/>
                </a:ln>
                <a:solidFill>
                  <a:srgbClr val="000000"/>
                </a:solidFill>
                <a:effectLst/>
                <a:uFillTx/>
                <a:latin typeface="Canela Bold"/>
                <a:ea typeface="Canela Bold"/>
                <a:cs typeface="Canela Bold"/>
                <a:sym typeface="Canela Bold"/>
              </a:rPr>
              <a:t>Base paper-4</a:t>
            </a:r>
            <a:r>
              <a:rPr kumimoji="0" lang="en-IN" sz="4400" b="1" i="0" u="none" strike="noStrike" cap="none" spc="0" normalizeH="0" dirty="0">
                <a:ln>
                  <a:noFill/>
                </a:ln>
                <a:solidFill>
                  <a:srgbClr val="000000"/>
                </a:solidFill>
                <a:effectLst/>
                <a:uFillTx/>
                <a:latin typeface="Canela Bold"/>
                <a:ea typeface="Canela Bold"/>
                <a:cs typeface="Canela Bold"/>
                <a:sym typeface="Canela Bold"/>
              </a:rPr>
              <a:t> title:</a:t>
            </a:r>
          </a:p>
          <a:p>
            <a:r>
              <a:rPr lang="en-IN" sz="3600" dirty="0" err="1"/>
              <a:t>VisioRenalNet</a:t>
            </a:r>
            <a:r>
              <a:rPr lang="en-IN" sz="3600" dirty="0"/>
              <a:t>: Spatial Vision Transformer </a:t>
            </a:r>
            <a:r>
              <a:rPr lang="en-IN" sz="3600" dirty="0" err="1"/>
              <a:t>UNet</a:t>
            </a:r>
            <a:r>
              <a:rPr lang="en-IN" sz="3600" dirty="0"/>
              <a:t> for Enhanced T2-Weighted Kidney MRI Segmentation</a:t>
            </a:r>
            <a:endParaRPr kumimoji="0" lang="en-IN" sz="3600" b="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6" name="TextBox 5"/>
          <p:cNvSpPr txBox="1"/>
          <p:nvPr/>
        </p:nvSpPr>
        <p:spPr>
          <a:xfrm flipH="1">
            <a:off x="1848327" y="3731831"/>
            <a:ext cx="13142292" cy="3820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b="1" dirty="0"/>
              <a:t>S</a:t>
            </a:r>
            <a:r>
              <a:rPr kumimoji="0" lang="en-IN" sz="4400" b="1" i="0" u="none" strike="noStrike" cap="none" spc="0" normalizeH="0" baseline="0" dirty="0">
                <a:ln>
                  <a:noFill/>
                </a:ln>
                <a:solidFill>
                  <a:srgbClr val="000000"/>
                </a:solidFill>
                <a:effectLst/>
                <a:uFillTx/>
                <a:latin typeface="Canela Bold"/>
                <a:ea typeface="Canela Bold"/>
                <a:cs typeface="Canela Bold"/>
                <a:sym typeface="Canela Bold"/>
              </a:rPr>
              <a:t>ummary:</a:t>
            </a:r>
          </a:p>
          <a:p>
            <a:r>
              <a:rPr lang="en-IN" sz="3600" dirty="0"/>
              <a:t>This paper proposes a Vision Transformer-based U-Net architecture for kidney MRI segmentation. It integrates spatial attention and transformer blocks to capture both local and global contextual information, improving segmentation accuracy for kidney structures in T2-weighted MRI images.</a:t>
            </a:r>
            <a:endParaRPr kumimoji="0" lang="en-IN" sz="360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7" name="TextBox 6"/>
          <p:cNvSpPr txBox="1"/>
          <p:nvPr/>
        </p:nvSpPr>
        <p:spPr>
          <a:xfrm flipH="1">
            <a:off x="1848328" y="7269859"/>
            <a:ext cx="13142291" cy="28233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4400" b="1" i="0" u="none" strike="noStrike" cap="none" spc="0" normalizeH="0" baseline="0" dirty="0">
                <a:ln>
                  <a:noFill/>
                </a:ln>
                <a:solidFill>
                  <a:srgbClr val="000000"/>
                </a:solidFill>
                <a:effectLst/>
                <a:uFillTx/>
                <a:latin typeface="Canela Bold"/>
                <a:ea typeface="Canela Bold"/>
                <a:cs typeface="Canela Bold"/>
                <a:sym typeface="Canela Bold"/>
              </a:rPr>
              <a:t>Research Gap Identified:</a:t>
            </a:r>
          </a:p>
          <a:p>
            <a:r>
              <a:rPr lang="en-US" sz="3600" dirty="0"/>
              <a:t>The model is trained on a limited dataset and lacks multi-center or cross-modality validation, which may reduce its generalization ability in diverse clinical scenarios.</a:t>
            </a:r>
            <a:endParaRPr kumimoji="0" lang="en-IN" sz="360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11" name="TextBox 10"/>
          <p:cNvSpPr txBox="1"/>
          <p:nvPr/>
        </p:nvSpPr>
        <p:spPr>
          <a:xfrm flipH="1">
            <a:off x="15805331" y="3643877"/>
            <a:ext cx="11410471" cy="18065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dirty="0"/>
              <a:t>Diagram of the existing work</a:t>
            </a:r>
            <a:endParaRPr kumimoji="0" lang="en-IN" sz="4400" b="0" i="0" u="none" strike="noStrike" cap="none" spc="0" normalizeH="0" baseline="0" dirty="0">
              <a:ln>
                <a:noFill/>
              </a:ln>
              <a:solidFill>
                <a:srgbClr val="000000"/>
              </a:solidFill>
              <a:effectLst/>
              <a:uFillTx/>
              <a:latin typeface="Canela Bold"/>
              <a:ea typeface="Canela Bold"/>
              <a:cs typeface="Canela Bold"/>
              <a:sym typeface="Canela Bold"/>
            </a:endParaRPr>
          </a:p>
        </p:txBody>
      </p:sp>
      <p:pic>
        <p:nvPicPr>
          <p:cNvPr id="4" name="Picture 3">
            <a:extLst>
              <a:ext uri="{FF2B5EF4-FFF2-40B4-BE49-F238E27FC236}">
                <a16:creationId xmlns:a16="http://schemas.microsoft.com/office/drawing/2014/main" id="{D433283D-1566-215E-C581-DA415CFE523F}"/>
              </a:ext>
            </a:extLst>
          </p:cNvPr>
          <p:cNvPicPr>
            <a:picLocks noChangeAspect="1"/>
          </p:cNvPicPr>
          <p:nvPr/>
        </p:nvPicPr>
        <p:blipFill>
          <a:blip r:embed="rId2"/>
          <a:stretch>
            <a:fillRect/>
          </a:stretch>
        </p:blipFill>
        <p:spPr>
          <a:xfrm>
            <a:off x="15805331" y="5178019"/>
            <a:ext cx="7694956" cy="5398573"/>
          </a:xfrm>
          <a:prstGeom prst="rect">
            <a:avLst/>
          </a:prstGeom>
        </p:spPr>
      </p:pic>
    </p:spTree>
    <p:extLst>
      <p:ext uri="{BB962C8B-B14F-4D97-AF65-F5344CB8AC3E}">
        <p14:creationId xmlns:p14="http://schemas.microsoft.com/office/powerpoint/2010/main" val="302716019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Literature Survey"/>
          <p:cNvSpPr txBox="1">
            <a:spLocks noGrp="1"/>
          </p:cNvSpPr>
          <p:nvPr>
            <p:ph type="title"/>
          </p:nvPr>
        </p:nvSpPr>
        <p:spPr>
          <a:xfrm>
            <a:off x="1219200" y="626808"/>
            <a:ext cx="21945600" cy="1727200"/>
          </a:xfrm>
          <a:prstGeom prst="rect">
            <a:avLst/>
          </a:prstGeom>
        </p:spPr>
        <p:txBody>
          <a:bodyPr/>
          <a:lstStyle>
            <a:lvl1pPr>
              <a:defRPr spc="-100"/>
            </a:lvl1pPr>
          </a:lstStyle>
          <a:p>
            <a:r>
              <a:rPr dirty="0"/>
              <a:t>Literature Survey</a:t>
            </a:r>
          </a:p>
        </p:txBody>
      </p:sp>
      <p:sp>
        <p:nvSpPr>
          <p:cNvPr id="185" name="&lt;Insert&gt;"/>
          <p:cNvSpPr txBox="1">
            <a:spLocks noGrp="1"/>
          </p:cNvSpPr>
          <p:nvPr>
            <p:ph type="body" idx="1"/>
          </p:nvPr>
        </p:nvSpPr>
        <p:spPr>
          <a:xfrm>
            <a:off x="1845347" y="11588740"/>
            <a:ext cx="21948578" cy="683491"/>
          </a:xfrm>
          <a:prstGeom prst="rect">
            <a:avLst/>
          </a:prstGeom>
        </p:spPr>
        <p:txBody>
          <a:bodyPr>
            <a:noAutofit/>
          </a:bodyPr>
          <a:lstStyle>
            <a:lvl1pPr marL="0" indent="0">
              <a:buSzTx/>
              <a:buNone/>
            </a:lvl1pPr>
          </a:lstStyle>
          <a:p>
            <a:r>
              <a:rPr lang="en-IN" sz="3600" dirty="0">
                <a:solidFill>
                  <a:srgbClr val="FF0000"/>
                </a:solidFill>
              </a:rPr>
              <a:t>Base Paper-5 citation:</a:t>
            </a:r>
          </a:p>
          <a:p>
            <a:r>
              <a:rPr lang="en-IN" sz="3600" dirty="0"/>
              <a:t>Matos, C. E. F., et al. (2024). </a:t>
            </a:r>
            <a:r>
              <a:rPr lang="en-IN" sz="3600" i="1" dirty="0"/>
              <a:t>CPP-</a:t>
            </a:r>
            <a:r>
              <a:rPr lang="en-IN" sz="3600" i="1" dirty="0" err="1"/>
              <a:t>UNet</a:t>
            </a:r>
            <a:r>
              <a:rPr lang="en-IN" sz="3600" i="1" dirty="0"/>
              <a:t>: Combined pyramid pooling modules in the U-Net network for kidney, </a:t>
            </a:r>
            <a:r>
              <a:rPr lang="en-IN" sz="3600" i="1" dirty="0" err="1"/>
              <a:t>tumor</a:t>
            </a:r>
            <a:r>
              <a:rPr lang="en-IN" sz="3600" i="1" dirty="0"/>
              <a:t> and cyst segmentation</a:t>
            </a:r>
            <a:r>
              <a:rPr lang="en-IN" sz="3600" dirty="0"/>
              <a:t>. </a:t>
            </a:r>
            <a:r>
              <a:rPr lang="en-IN" sz="3600" b="1" dirty="0"/>
              <a:t>IEEE Latin America Transactions</a:t>
            </a:r>
            <a:r>
              <a:rPr lang="en-IN" sz="3600" dirty="0"/>
              <a:t>.</a:t>
            </a:r>
            <a:endParaRPr sz="3600" dirty="0">
              <a:solidFill>
                <a:srgbClr val="FF0000"/>
              </a:solidFill>
            </a:endParaRPr>
          </a:p>
        </p:txBody>
      </p:sp>
      <p:sp>
        <p:nvSpPr>
          <p:cNvPr id="2" name="TextBox 1"/>
          <p:cNvSpPr txBox="1"/>
          <p:nvPr/>
        </p:nvSpPr>
        <p:spPr>
          <a:xfrm flipH="1">
            <a:off x="1848326" y="2439727"/>
            <a:ext cx="21945599" cy="18261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4400" b="1" i="0" u="none" strike="noStrike" cap="none" spc="0" normalizeH="0" baseline="0" dirty="0">
                <a:ln>
                  <a:noFill/>
                </a:ln>
                <a:solidFill>
                  <a:srgbClr val="000000"/>
                </a:solidFill>
                <a:effectLst/>
                <a:uFillTx/>
                <a:latin typeface="Canela Bold"/>
                <a:ea typeface="Canela Bold"/>
                <a:cs typeface="Canela Bold"/>
                <a:sym typeface="Canela Bold"/>
              </a:rPr>
              <a:t>Base paper-5</a:t>
            </a:r>
            <a:r>
              <a:rPr kumimoji="0" lang="en-IN" sz="4400" b="1" i="0" u="none" strike="noStrike" cap="none" spc="0" normalizeH="0" dirty="0">
                <a:ln>
                  <a:noFill/>
                </a:ln>
                <a:solidFill>
                  <a:srgbClr val="000000"/>
                </a:solidFill>
                <a:effectLst/>
                <a:uFillTx/>
                <a:latin typeface="Canela Bold"/>
                <a:ea typeface="Canela Bold"/>
                <a:cs typeface="Canela Bold"/>
                <a:sym typeface="Canela Bold"/>
              </a:rPr>
              <a:t> title:</a:t>
            </a:r>
          </a:p>
          <a:p>
            <a:r>
              <a:rPr lang="en-IN" sz="3600" dirty="0"/>
              <a:t>CPP-</a:t>
            </a:r>
            <a:r>
              <a:rPr lang="en-IN" sz="3600" dirty="0" err="1"/>
              <a:t>UNet</a:t>
            </a:r>
            <a:r>
              <a:rPr lang="en-IN" sz="3600" dirty="0"/>
              <a:t>: Combined Pyramid Pooling Modules in the U-Net Network for Kidney, </a:t>
            </a:r>
            <a:r>
              <a:rPr lang="en-IN" sz="3600" dirty="0" err="1"/>
              <a:t>Tumor</a:t>
            </a:r>
            <a:r>
              <a:rPr lang="en-IN" sz="3600" dirty="0"/>
              <a:t> and Cyst Segmentation</a:t>
            </a:r>
            <a:endParaRPr kumimoji="0" lang="en-IN" sz="3600" b="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6" name="TextBox 5"/>
          <p:cNvSpPr txBox="1"/>
          <p:nvPr/>
        </p:nvSpPr>
        <p:spPr>
          <a:xfrm flipH="1">
            <a:off x="1848326" y="4522944"/>
            <a:ext cx="13724183" cy="3820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b="1" dirty="0"/>
              <a:t>S</a:t>
            </a:r>
            <a:r>
              <a:rPr kumimoji="0" lang="en-IN" sz="4400" b="1" i="0" u="none" strike="noStrike" cap="none" spc="0" normalizeH="0" baseline="0" dirty="0">
                <a:ln>
                  <a:noFill/>
                </a:ln>
                <a:solidFill>
                  <a:srgbClr val="000000"/>
                </a:solidFill>
                <a:effectLst/>
                <a:uFillTx/>
                <a:latin typeface="Canela Bold"/>
                <a:ea typeface="Canela Bold"/>
                <a:cs typeface="Canela Bold"/>
                <a:sym typeface="Canela Bold"/>
              </a:rPr>
              <a:t>ummary:</a:t>
            </a:r>
          </a:p>
          <a:p>
            <a:r>
              <a:rPr lang="en-IN" sz="3600" dirty="0"/>
              <a:t>This paper introduces CPP-</a:t>
            </a:r>
            <a:r>
              <a:rPr lang="en-IN" sz="3600" dirty="0" err="1"/>
              <a:t>UNet</a:t>
            </a:r>
            <a:r>
              <a:rPr lang="en-IN" sz="3600" dirty="0"/>
              <a:t>, which enhances the traditional U-Net by incorporating Pyramid Pooling Module (PPM) and </a:t>
            </a:r>
            <a:r>
              <a:rPr lang="en-IN" sz="3600" dirty="0" err="1"/>
              <a:t>Atrous</a:t>
            </a:r>
            <a:r>
              <a:rPr lang="en-IN" sz="3600" dirty="0"/>
              <a:t> Spatial Pyramid Pooling (ASPP) for better multi-scale feature extraction. The model improves segmentation performance for kidney, </a:t>
            </a:r>
            <a:r>
              <a:rPr lang="en-IN" sz="3600" dirty="0" err="1"/>
              <a:t>tumor</a:t>
            </a:r>
            <a:r>
              <a:rPr lang="en-IN" sz="3600" dirty="0"/>
              <a:t>, and cyst regions in CT images.</a:t>
            </a:r>
            <a:endParaRPr kumimoji="0" lang="en-IN" sz="360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7" name="TextBox 6"/>
          <p:cNvSpPr txBox="1"/>
          <p:nvPr/>
        </p:nvSpPr>
        <p:spPr>
          <a:xfrm flipH="1">
            <a:off x="1848325" y="8386007"/>
            <a:ext cx="13142292" cy="27125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kumimoji="0" lang="en-IN" sz="3600" b="1" i="0" u="none" strike="noStrike" cap="none" spc="0" normalizeH="0" baseline="0" dirty="0">
                <a:ln>
                  <a:noFill/>
                </a:ln>
                <a:solidFill>
                  <a:srgbClr val="000000"/>
                </a:solidFill>
                <a:effectLst/>
                <a:uFillTx/>
                <a:latin typeface="Canela Bold"/>
                <a:ea typeface="Canela Bold"/>
                <a:cs typeface="Canela Bold"/>
                <a:sym typeface="Canela Bold"/>
              </a:rPr>
              <a:t>Research Gap Identified:</a:t>
            </a:r>
          </a:p>
          <a:p>
            <a:r>
              <a:rPr lang="en-US" sz="3600" dirty="0"/>
              <a:t>The model is based on 2D slice-wise segmentation, which limits its ability to fully capture 3D spatial relationships and may reduce performance for small or complex structures.</a:t>
            </a:r>
            <a:endParaRPr kumimoji="0" lang="en-IN" sz="3600" b="0" i="0" u="none" strike="noStrike" cap="none" spc="0" normalizeH="0" baseline="0" dirty="0">
              <a:ln>
                <a:noFill/>
              </a:ln>
              <a:solidFill>
                <a:srgbClr val="000000"/>
              </a:solidFill>
              <a:effectLst/>
              <a:uFillTx/>
              <a:latin typeface="Canela Bold"/>
              <a:ea typeface="Canela Bold"/>
              <a:cs typeface="Canela Bold"/>
              <a:sym typeface="Canela Bold"/>
            </a:endParaRPr>
          </a:p>
        </p:txBody>
      </p:sp>
      <p:sp>
        <p:nvSpPr>
          <p:cNvPr id="11" name="TextBox 10"/>
          <p:cNvSpPr txBox="1"/>
          <p:nvPr/>
        </p:nvSpPr>
        <p:spPr>
          <a:xfrm flipH="1">
            <a:off x="16204214" y="4385305"/>
            <a:ext cx="11410471" cy="10197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90000"/>
              </a:lnSpc>
              <a:spcBef>
                <a:spcPts val="2400"/>
              </a:spcBef>
              <a:spcAft>
                <a:spcPts val="0"/>
              </a:spcAft>
              <a:buClrTx/>
              <a:buSzTx/>
              <a:buFontTx/>
              <a:buNone/>
              <a:tabLst/>
            </a:pPr>
            <a:r>
              <a:rPr lang="en-IN" dirty="0"/>
              <a:t>Diagram of the existing work</a:t>
            </a:r>
            <a:endParaRPr kumimoji="0" lang="en-IN" sz="4400" b="0" i="0" u="none" strike="noStrike" cap="none" spc="0" normalizeH="0" baseline="0" dirty="0">
              <a:ln>
                <a:noFill/>
              </a:ln>
              <a:solidFill>
                <a:srgbClr val="000000"/>
              </a:solidFill>
              <a:effectLst/>
              <a:uFillTx/>
              <a:latin typeface="Canela Bold"/>
              <a:ea typeface="Canela Bold"/>
              <a:cs typeface="Canela Bold"/>
              <a:sym typeface="Canela Bold"/>
            </a:endParaRPr>
          </a:p>
        </p:txBody>
      </p:sp>
      <p:pic>
        <p:nvPicPr>
          <p:cNvPr id="4" name="Picture 3">
            <a:extLst>
              <a:ext uri="{FF2B5EF4-FFF2-40B4-BE49-F238E27FC236}">
                <a16:creationId xmlns:a16="http://schemas.microsoft.com/office/drawing/2014/main" id="{E985C176-AAC8-FDC1-6ECB-B7BF0BBA5A87}"/>
              </a:ext>
            </a:extLst>
          </p:cNvPr>
          <p:cNvPicPr>
            <a:picLocks noChangeAspect="1"/>
          </p:cNvPicPr>
          <p:nvPr/>
        </p:nvPicPr>
        <p:blipFill>
          <a:blip r:embed="rId3"/>
          <a:stretch>
            <a:fillRect/>
          </a:stretch>
        </p:blipFill>
        <p:spPr>
          <a:xfrm>
            <a:off x="15732786" y="5532660"/>
            <a:ext cx="8197555" cy="6429964"/>
          </a:xfrm>
          <a:prstGeom prst="rect">
            <a:avLst/>
          </a:prstGeom>
        </p:spPr>
      </p:pic>
    </p:spTree>
    <p:extLst>
      <p:ext uri="{BB962C8B-B14F-4D97-AF65-F5344CB8AC3E}">
        <p14:creationId xmlns:p14="http://schemas.microsoft.com/office/powerpoint/2010/main" val="314408466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Literature Survey"/>
          <p:cNvSpPr txBox="1">
            <a:spLocks noGrp="1"/>
          </p:cNvSpPr>
          <p:nvPr>
            <p:ph type="title"/>
          </p:nvPr>
        </p:nvSpPr>
        <p:spPr>
          <a:prstGeom prst="rect">
            <a:avLst/>
          </a:prstGeom>
        </p:spPr>
        <p:txBody>
          <a:bodyPr/>
          <a:lstStyle>
            <a:lvl1pPr>
              <a:defRPr spc="-100"/>
            </a:lvl1pPr>
          </a:lstStyle>
          <a:p>
            <a:r>
              <a:t>Literature Survey</a:t>
            </a:r>
          </a:p>
        </p:txBody>
      </p:sp>
      <p:sp>
        <p:nvSpPr>
          <p:cNvPr id="186" name="Summary of Existing work"/>
          <p:cNvSpPr txBox="1">
            <a:spLocks noGrp="1"/>
          </p:cNvSpPr>
          <p:nvPr>
            <p:ph type="body" idx="21"/>
          </p:nvPr>
        </p:nvSpPr>
        <p:spPr>
          <a:xfrm>
            <a:off x="453658" y="2424936"/>
            <a:ext cx="8140390" cy="83261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r>
              <a:rPr lang="en-IN" dirty="0"/>
              <a:t>Summary of  Research Gaps</a:t>
            </a:r>
            <a:endParaRPr dirty="0"/>
          </a:p>
        </p:txBody>
      </p:sp>
      <p:sp>
        <p:nvSpPr>
          <p:cNvPr id="2" name="Text Placeholder 1">
            <a:extLst>
              <a:ext uri="{FF2B5EF4-FFF2-40B4-BE49-F238E27FC236}">
                <a16:creationId xmlns:a16="http://schemas.microsoft.com/office/drawing/2014/main" id="{A90EEED1-1BF2-C9D0-3178-0D561DA34B56}"/>
              </a:ext>
            </a:extLst>
          </p:cNvPr>
          <p:cNvSpPr>
            <a:spLocks noGrp="1" noChangeArrowheads="1"/>
          </p:cNvSpPr>
          <p:nvPr>
            <p:ph type="body" idx="1"/>
          </p:nvPr>
        </p:nvSpPr>
        <p:spPr bwMode="auto">
          <a:xfrm>
            <a:off x="1514475" y="3808779"/>
            <a:ext cx="21355050"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Kidney Segmentation in Renal MRI:</a:t>
            </a:r>
            <a:r>
              <a:rPr kumimoji="0" lang="en-US" altLang="en-US" sz="3600" b="0" i="0" u="none" strike="noStrike" cap="none" normalizeH="0" baseline="0" dirty="0">
                <a:ln>
                  <a:noFill/>
                </a:ln>
                <a:solidFill>
                  <a:schemeClr val="tx1"/>
                </a:solidFill>
                <a:effectLst/>
                <a:latin typeface="Arial" panose="020B0604020202020204" pitchFamily="34" charset="0"/>
              </a:rPr>
              <a:t> Existing methods rely heavily on </a:t>
            </a:r>
            <a:r>
              <a:rPr kumimoji="0" lang="en-US" altLang="en-US" sz="3600" b="1" i="0" u="none" strike="noStrike" cap="none" normalizeH="0" baseline="0" dirty="0">
                <a:ln>
                  <a:noFill/>
                </a:ln>
                <a:solidFill>
                  <a:schemeClr val="tx1"/>
                </a:solidFill>
                <a:effectLst/>
                <a:latin typeface="Arial" panose="020B0604020202020204" pitchFamily="34" charset="0"/>
              </a:rPr>
              <a:t>manual or semi-automatic segmentation</a:t>
            </a:r>
            <a:r>
              <a:rPr kumimoji="0" lang="en-US" altLang="en-US" sz="3600" b="0" i="0" u="none" strike="noStrike" cap="none" normalizeH="0" baseline="0" dirty="0">
                <a:ln>
                  <a:noFill/>
                </a:ln>
                <a:solidFill>
                  <a:schemeClr val="tx1"/>
                </a:solidFill>
                <a:effectLst/>
                <a:latin typeface="Arial" panose="020B0604020202020204" pitchFamily="34" charset="0"/>
              </a:rPr>
              <a:t>, making them time-consuming and less scalable for clinical use.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Attention-Based Residual U-Net:</a:t>
            </a:r>
            <a:r>
              <a:rPr kumimoji="0" lang="en-US" altLang="en-US" sz="3600" b="0" i="0" u="none" strike="noStrike" cap="none" normalizeH="0" baseline="0" dirty="0">
                <a:ln>
                  <a:noFill/>
                </a:ln>
                <a:solidFill>
                  <a:schemeClr val="tx1"/>
                </a:solidFill>
                <a:effectLst/>
                <a:latin typeface="Arial" panose="020B0604020202020204" pitchFamily="34" charset="0"/>
              </a:rPr>
              <a:t> Improves focus on important regions, but the </a:t>
            </a:r>
            <a:r>
              <a:rPr kumimoji="0" lang="en-US" altLang="en-US" sz="3600" b="1" i="0" u="none" strike="noStrike" cap="none" normalizeH="0" baseline="0" dirty="0">
                <a:ln>
                  <a:noFill/>
                </a:ln>
                <a:solidFill>
                  <a:schemeClr val="tx1"/>
                </a:solidFill>
                <a:effectLst/>
                <a:latin typeface="Arial" panose="020B0604020202020204" pitchFamily="34" charset="0"/>
              </a:rPr>
              <a:t>high model complexity</a:t>
            </a:r>
            <a:r>
              <a:rPr kumimoji="0" lang="en-US" altLang="en-US" sz="3600" b="0" i="0" u="none" strike="noStrike" cap="none" normalizeH="0" baseline="0" dirty="0">
                <a:ln>
                  <a:noFill/>
                </a:ln>
                <a:solidFill>
                  <a:schemeClr val="tx1"/>
                </a:solidFill>
                <a:effectLst/>
                <a:latin typeface="Arial" panose="020B0604020202020204" pitchFamily="34" charset="0"/>
              </a:rPr>
              <a:t> may reduce efficiency and generalization across datasets.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U-Net++ with Deep Supervision:</a:t>
            </a:r>
            <a:r>
              <a:rPr kumimoji="0" lang="en-US" altLang="en-US" sz="3600" b="0" i="0" u="none" strike="noStrike" cap="none" normalizeH="0" baseline="0" dirty="0">
                <a:ln>
                  <a:noFill/>
                </a:ln>
                <a:solidFill>
                  <a:schemeClr val="tx1"/>
                </a:solidFill>
                <a:effectLst/>
                <a:latin typeface="Arial" panose="020B0604020202020204" pitchFamily="34" charset="0"/>
              </a:rPr>
              <a:t> Enhances feature propagation and segmentation accuracy, but requires </a:t>
            </a:r>
            <a:r>
              <a:rPr kumimoji="0" lang="en-US" altLang="en-US" sz="3600" b="1" i="0" u="none" strike="noStrike" cap="none" normalizeH="0" baseline="0" dirty="0">
                <a:ln>
                  <a:noFill/>
                </a:ln>
                <a:solidFill>
                  <a:schemeClr val="tx1"/>
                </a:solidFill>
                <a:effectLst/>
                <a:latin typeface="Arial" panose="020B0604020202020204" pitchFamily="34" charset="0"/>
              </a:rPr>
              <a:t>higher computational resources</a:t>
            </a:r>
            <a:r>
              <a:rPr kumimoji="0" lang="en-US" altLang="en-US" sz="3600" b="0" i="0" u="none" strike="noStrike" cap="none" normalizeH="0" baseline="0" dirty="0">
                <a:ln>
                  <a:noFill/>
                </a:ln>
                <a:solidFill>
                  <a:schemeClr val="tx1"/>
                </a:solidFill>
                <a:effectLst/>
                <a:latin typeface="Arial" panose="020B0604020202020204" pitchFamily="34" charset="0"/>
              </a:rPr>
              <a:t> and careful optimization.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err="1">
                <a:ln>
                  <a:noFill/>
                </a:ln>
                <a:solidFill>
                  <a:schemeClr val="tx1"/>
                </a:solidFill>
                <a:effectLst/>
                <a:latin typeface="Arial" panose="020B0604020202020204" pitchFamily="34" charset="0"/>
              </a:rPr>
              <a:t>VisioRenalNet</a:t>
            </a:r>
            <a:r>
              <a:rPr kumimoji="0" lang="en-US" altLang="en-US" sz="3600" b="1" i="0" u="none" strike="noStrike" cap="none" normalizeH="0" baseline="0" dirty="0">
                <a:ln>
                  <a:noFill/>
                </a:ln>
                <a:solidFill>
                  <a:schemeClr val="tx1"/>
                </a:solidFill>
                <a:effectLst/>
                <a:latin typeface="Arial" panose="020B0604020202020204" pitchFamily="34" charset="0"/>
              </a:rPr>
              <a:t>:</a:t>
            </a:r>
            <a:r>
              <a:rPr kumimoji="0" lang="en-US" altLang="en-US" sz="3600" b="0" i="0" u="none" strike="noStrike" cap="none" normalizeH="0" baseline="0" dirty="0">
                <a:ln>
                  <a:noFill/>
                </a:ln>
                <a:solidFill>
                  <a:schemeClr val="tx1"/>
                </a:solidFill>
                <a:effectLst/>
                <a:latin typeface="Arial" panose="020B0604020202020204" pitchFamily="34" charset="0"/>
              </a:rPr>
              <a:t> Captures global context using transformers, but is trained on a </a:t>
            </a:r>
            <a:r>
              <a:rPr kumimoji="0" lang="en-US" altLang="en-US" sz="3600" b="1" i="0" u="none" strike="noStrike" cap="none" normalizeH="0" baseline="0" dirty="0">
                <a:ln>
                  <a:noFill/>
                </a:ln>
                <a:solidFill>
                  <a:schemeClr val="tx1"/>
                </a:solidFill>
                <a:effectLst/>
                <a:latin typeface="Arial" panose="020B0604020202020204" pitchFamily="34" charset="0"/>
              </a:rPr>
              <a:t>limited dataset</a:t>
            </a:r>
            <a:r>
              <a:rPr kumimoji="0" lang="en-US" altLang="en-US" sz="3600" b="0" i="0" u="none" strike="noStrike" cap="none" normalizeH="0" baseline="0" dirty="0">
                <a:ln>
                  <a:noFill/>
                </a:ln>
                <a:solidFill>
                  <a:schemeClr val="tx1"/>
                </a:solidFill>
                <a:effectLst/>
                <a:latin typeface="Arial" panose="020B0604020202020204" pitchFamily="34" charset="0"/>
              </a:rPr>
              <a:t>, affecting robustness in diverse clinical environments.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CPP-</a:t>
            </a:r>
            <a:r>
              <a:rPr kumimoji="0" lang="en-US" altLang="en-US" sz="3600" b="1" i="0" u="none" strike="noStrike" cap="none" normalizeH="0" baseline="0" dirty="0" err="1">
                <a:ln>
                  <a:noFill/>
                </a:ln>
                <a:solidFill>
                  <a:schemeClr val="tx1"/>
                </a:solidFill>
                <a:effectLst/>
                <a:latin typeface="Arial" panose="020B0604020202020204" pitchFamily="34" charset="0"/>
              </a:rPr>
              <a:t>UNet</a:t>
            </a:r>
            <a:r>
              <a:rPr kumimoji="0" lang="en-US" altLang="en-US" sz="3600" b="1" i="0" u="none" strike="noStrike" cap="none" normalizeH="0" baseline="0" dirty="0">
                <a:ln>
                  <a:noFill/>
                </a:ln>
                <a:solidFill>
                  <a:schemeClr val="tx1"/>
                </a:solidFill>
                <a:effectLst/>
                <a:latin typeface="Arial" panose="020B0604020202020204" pitchFamily="34" charset="0"/>
              </a:rPr>
              <a:t>:</a:t>
            </a:r>
            <a:r>
              <a:rPr kumimoji="0" lang="en-US" altLang="en-US" sz="3600" b="0" i="0" u="none" strike="noStrike" cap="none" normalizeH="0" baseline="0" dirty="0">
                <a:ln>
                  <a:noFill/>
                </a:ln>
                <a:solidFill>
                  <a:schemeClr val="tx1"/>
                </a:solidFill>
                <a:effectLst/>
                <a:latin typeface="Arial" panose="020B0604020202020204" pitchFamily="34" charset="0"/>
              </a:rPr>
              <a:t> Improves multi-scale feature extraction, but its </a:t>
            </a:r>
            <a:r>
              <a:rPr kumimoji="0" lang="en-US" altLang="en-US" sz="3600" b="1" i="0" u="none" strike="noStrike" cap="none" normalizeH="0" baseline="0" dirty="0">
                <a:ln>
                  <a:noFill/>
                </a:ln>
                <a:solidFill>
                  <a:schemeClr val="tx1"/>
                </a:solidFill>
                <a:effectLst/>
                <a:latin typeface="Arial" panose="020B0604020202020204" pitchFamily="34" charset="0"/>
              </a:rPr>
              <a:t>2D slice-based approach</a:t>
            </a:r>
            <a:r>
              <a:rPr kumimoji="0" lang="en-US" altLang="en-US" sz="3600" b="0" i="0" u="none" strike="noStrike" cap="none" normalizeH="0" baseline="0" dirty="0">
                <a:ln>
                  <a:noFill/>
                </a:ln>
                <a:solidFill>
                  <a:schemeClr val="tx1"/>
                </a:solidFill>
                <a:effectLst/>
                <a:latin typeface="Arial" panose="020B0604020202020204" pitchFamily="34" charset="0"/>
              </a:rPr>
              <a:t> limits the capture of full </a:t>
            </a:r>
            <a:r>
              <a:rPr kumimoji="0" lang="en-US" altLang="en-US" sz="3600" b="1" i="0" u="none" strike="noStrike" cap="none" normalizeH="0" baseline="0" dirty="0">
                <a:ln>
                  <a:noFill/>
                </a:ln>
                <a:solidFill>
                  <a:schemeClr val="tx1"/>
                </a:solidFill>
                <a:effectLst/>
                <a:latin typeface="Arial" panose="020B0604020202020204" pitchFamily="34" charset="0"/>
              </a:rPr>
              <a:t>3D anatomical relationships</a:t>
            </a: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03181523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roposed Methodology"/>
          <p:cNvSpPr txBox="1">
            <a:spLocks noGrp="1"/>
          </p:cNvSpPr>
          <p:nvPr>
            <p:ph type="title"/>
          </p:nvPr>
        </p:nvSpPr>
        <p:spPr>
          <a:xfrm>
            <a:off x="1219200" y="774700"/>
            <a:ext cx="21945600" cy="1455544"/>
          </a:xfrm>
          <a:prstGeom prst="rect">
            <a:avLst/>
          </a:prstGeom>
        </p:spPr>
        <p:txBody>
          <a:bodyPr/>
          <a:lstStyle>
            <a:lvl1pPr>
              <a:defRPr spc="-100"/>
            </a:lvl1pPr>
          </a:lstStyle>
          <a:p>
            <a:r>
              <a:rPr dirty="0"/>
              <a:t>Proposed Methodology</a:t>
            </a:r>
          </a:p>
        </p:txBody>
      </p:sp>
      <p:sp>
        <p:nvSpPr>
          <p:cNvPr id="2" name="Text Placeholder 1">
            <a:extLst>
              <a:ext uri="{FF2B5EF4-FFF2-40B4-BE49-F238E27FC236}">
                <a16:creationId xmlns:a16="http://schemas.microsoft.com/office/drawing/2014/main" id="{B1FAA9F6-AD83-E2E0-5DF1-36C7BDC94038}"/>
              </a:ext>
            </a:extLst>
          </p:cNvPr>
          <p:cNvSpPr>
            <a:spLocks noGrp="1" noChangeArrowheads="1"/>
          </p:cNvSpPr>
          <p:nvPr>
            <p:ph type="body" idx="1"/>
          </p:nvPr>
        </p:nvSpPr>
        <p:spPr bwMode="auto">
          <a:xfrm>
            <a:off x="1219200" y="2230244"/>
            <a:ext cx="21505430" cy="10064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Develop an </a:t>
            </a:r>
            <a:r>
              <a:rPr kumimoji="0" lang="en-US" altLang="en-US" sz="3600" b="1" i="0" u="none" strike="noStrike" cap="none" normalizeH="0" baseline="0" dirty="0">
                <a:ln>
                  <a:noFill/>
                </a:ln>
                <a:solidFill>
                  <a:schemeClr val="tx1"/>
                </a:solidFill>
                <a:effectLst/>
                <a:latin typeface="Arial" panose="020B0604020202020204" pitchFamily="34" charset="0"/>
              </a:rPr>
              <a:t>Attention U-Net++ based segmentation model</a:t>
            </a:r>
            <a:r>
              <a:rPr kumimoji="0" lang="en-US" altLang="en-US" sz="3600" b="0" i="0" u="none" strike="noStrike" cap="none" normalizeH="0" baseline="0" dirty="0">
                <a:ln>
                  <a:noFill/>
                </a:ln>
                <a:solidFill>
                  <a:schemeClr val="tx1"/>
                </a:solidFill>
                <a:effectLst/>
                <a:latin typeface="Arial" panose="020B0604020202020204" pitchFamily="34" charset="0"/>
              </a:rPr>
              <a:t> to accurately identify and extract kidney regions from medical images.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Address challenges such as </a:t>
            </a:r>
            <a:r>
              <a:rPr kumimoji="0" lang="en-US" altLang="en-US" sz="3600" b="1" i="0" u="none" strike="noStrike" cap="none" normalizeH="0" baseline="0" dirty="0">
                <a:ln>
                  <a:noFill/>
                </a:ln>
                <a:solidFill>
                  <a:schemeClr val="tx1"/>
                </a:solidFill>
                <a:effectLst/>
                <a:latin typeface="Arial" panose="020B0604020202020204" pitchFamily="34" charset="0"/>
              </a:rPr>
              <a:t>low contrast, anatomical variability, and background interference</a:t>
            </a:r>
            <a:r>
              <a:rPr kumimoji="0" lang="en-US" altLang="en-US" sz="3600" b="0" i="0" u="none" strike="noStrike" cap="none" normalizeH="0" baseline="0" dirty="0">
                <a:ln>
                  <a:noFill/>
                </a:ln>
                <a:solidFill>
                  <a:schemeClr val="tx1"/>
                </a:solidFill>
                <a:effectLst/>
                <a:latin typeface="Arial" panose="020B0604020202020204" pitchFamily="34" charset="0"/>
              </a:rPr>
              <a:t> using </a:t>
            </a:r>
            <a:r>
              <a:rPr kumimoji="0" lang="en-US" altLang="en-US" sz="3600" b="1" i="0" u="none" strike="noStrike" cap="none" normalizeH="0" baseline="0" dirty="0">
                <a:ln>
                  <a:noFill/>
                </a:ln>
                <a:solidFill>
                  <a:schemeClr val="tx1"/>
                </a:solidFill>
                <a:effectLst/>
                <a:latin typeface="Arial" panose="020B0604020202020204" pitchFamily="34" charset="0"/>
              </a:rPr>
              <a:t>attention mechanisms</a:t>
            </a:r>
            <a:r>
              <a:rPr kumimoji="0" lang="en-US" altLang="en-US" sz="3600" b="0" i="0" u="none" strike="noStrike" cap="none" normalizeH="0" baseline="0" dirty="0">
                <a:ln>
                  <a:noFill/>
                </a:ln>
                <a:solidFill>
                  <a:schemeClr val="tx1"/>
                </a:solidFill>
                <a:effectLst/>
                <a:latin typeface="Arial" panose="020B0604020202020204" pitchFamily="34" charset="0"/>
              </a:rPr>
              <a:t> to focus on kidney-relevant regions.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Utilize </a:t>
            </a:r>
            <a:r>
              <a:rPr kumimoji="0" lang="en-US" altLang="en-US" sz="3600" b="1" i="0" u="none" strike="noStrike" cap="none" normalizeH="0" baseline="0" dirty="0">
                <a:ln>
                  <a:noFill/>
                </a:ln>
                <a:solidFill>
                  <a:schemeClr val="tx1"/>
                </a:solidFill>
                <a:effectLst/>
                <a:latin typeface="Arial" panose="020B0604020202020204" pitchFamily="34" charset="0"/>
              </a:rPr>
              <a:t>nested skip connections in U-Net++</a:t>
            </a:r>
            <a:r>
              <a:rPr kumimoji="0" lang="en-US" altLang="en-US" sz="3600" b="0" i="0" u="none" strike="noStrike" cap="none" normalizeH="0" baseline="0" dirty="0">
                <a:ln>
                  <a:noFill/>
                </a:ln>
                <a:solidFill>
                  <a:schemeClr val="tx1"/>
                </a:solidFill>
                <a:effectLst/>
                <a:latin typeface="Arial" panose="020B0604020202020204" pitchFamily="34" charset="0"/>
              </a:rPr>
              <a:t> to improve </a:t>
            </a:r>
            <a:r>
              <a:rPr kumimoji="0" lang="en-US" altLang="en-US" sz="3600" b="1" i="0" u="none" strike="noStrike" cap="none" normalizeH="0" baseline="0" dirty="0">
                <a:ln>
                  <a:noFill/>
                </a:ln>
                <a:solidFill>
                  <a:schemeClr val="tx1"/>
                </a:solidFill>
                <a:effectLst/>
                <a:latin typeface="Arial" panose="020B0604020202020204" pitchFamily="34" charset="0"/>
              </a:rPr>
              <a:t>multi-scale feature fusion</a:t>
            </a:r>
            <a:r>
              <a:rPr kumimoji="0" lang="en-US" altLang="en-US" sz="3600" b="0" i="0" u="none" strike="noStrike" cap="none" normalizeH="0" baseline="0" dirty="0">
                <a:ln>
                  <a:noFill/>
                </a:ln>
                <a:solidFill>
                  <a:schemeClr val="tx1"/>
                </a:solidFill>
                <a:effectLst/>
                <a:latin typeface="Arial" panose="020B0604020202020204" pitchFamily="34" charset="0"/>
              </a:rPr>
              <a:t> and enhance segmentation boundary precision.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Incorporate </a:t>
            </a:r>
            <a:r>
              <a:rPr kumimoji="0" lang="en-US" altLang="en-US" sz="3600" b="1" i="0" u="none" strike="noStrike" cap="none" normalizeH="0" baseline="0" dirty="0">
                <a:ln>
                  <a:noFill/>
                </a:ln>
                <a:solidFill>
                  <a:schemeClr val="tx1"/>
                </a:solidFill>
                <a:effectLst/>
                <a:latin typeface="Arial" panose="020B0604020202020204" pitchFamily="34" charset="0"/>
              </a:rPr>
              <a:t>deep supervision</a:t>
            </a:r>
            <a:r>
              <a:rPr kumimoji="0" lang="en-US" altLang="en-US" sz="3600" b="0" i="0" u="none" strike="noStrike" cap="none" normalizeH="0" baseline="0" dirty="0">
                <a:ln>
                  <a:noFill/>
                </a:ln>
                <a:solidFill>
                  <a:schemeClr val="tx1"/>
                </a:solidFill>
                <a:effectLst/>
                <a:latin typeface="Arial" panose="020B0604020202020204" pitchFamily="34" charset="0"/>
              </a:rPr>
              <a:t> to improve gradient flow, accelerate convergence, and strengthen feature learning at multiple decoder levels.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Apply </a:t>
            </a:r>
            <a:r>
              <a:rPr kumimoji="0" lang="en-US" altLang="en-US" sz="3600" b="1" i="0" u="none" strike="noStrike" cap="none" normalizeH="0" baseline="0" dirty="0">
                <a:ln>
                  <a:noFill/>
                </a:ln>
                <a:solidFill>
                  <a:schemeClr val="tx1"/>
                </a:solidFill>
                <a:effectLst/>
                <a:latin typeface="Arial" panose="020B0604020202020204" pitchFamily="34" charset="0"/>
              </a:rPr>
              <a:t>data preprocessing and augmentation techniques</a:t>
            </a:r>
            <a:r>
              <a:rPr kumimoji="0" lang="en-US" altLang="en-US" sz="3600" b="0" i="0" u="none" strike="noStrike" cap="none" normalizeH="0" baseline="0" dirty="0">
                <a:ln>
                  <a:noFill/>
                </a:ln>
                <a:solidFill>
                  <a:schemeClr val="tx1"/>
                </a:solidFill>
                <a:effectLst/>
                <a:latin typeface="Arial" panose="020B0604020202020204" pitchFamily="34" charset="0"/>
              </a:rPr>
              <a:t> to improve model robustness and handle variability in medical imaging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Ensure reliable model evaluation using </a:t>
            </a:r>
            <a:r>
              <a:rPr kumimoji="0" lang="en-US" altLang="en-US" sz="3600" b="1" i="0" u="none" strike="noStrike" cap="none" normalizeH="0" baseline="0" dirty="0">
                <a:ln>
                  <a:noFill/>
                </a:ln>
                <a:solidFill>
                  <a:schemeClr val="tx1"/>
                </a:solidFill>
                <a:effectLst/>
                <a:latin typeface="Arial" panose="020B0604020202020204" pitchFamily="34" charset="0"/>
              </a:rPr>
              <a:t>patient-wise data splitting, cross-validation, and performance metrics such as Dice Similarity Coefficient (DSC)</a:t>
            </a: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Architecture"/>
          <p:cNvSpPr txBox="1">
            <a:spLocks noGrp="1"/>
          </p:cNvSpPr>
          <p:nvPr>
            <p:ph type="title"/>
          </p:nvPr>
        </p:nvSpPr>
        <p:spPr>
          <a:prstGeom prst="rect">
            <a:avLst/>
          </a:prstGeom>
        </p:spPr>
        <p:txBody>
          <a:bodyPr/>
          <a:lstStyle>
            <a:lvl1pPr>
              <a:defRPr spc="-100"/>
            </a:lvl1pPr>
          </a:lstStyle>
          <a:p>
            <a:r>
              <a:t>Architecture</a:t>
            </a:r>
          </a:p>
        </p:txBody>
      </p:sp>
      <p:pic>
        <p:nvPicPr>
          <p:cNvPr id="2" name="Picture 1">
            <a:extLst>
              <a:ext uri="{FF2B5EF4-FFF2-40B4-BE49-F238E27FC236}">
                <a16:creationId xmlns:a16="http://schemas.microsoft.com/office/drawing/2014/main" id="{590E703B-D685-FBDC-E491-A19DCE2BD874}"/>
              </a:ext>
            </a:extLst>
          </p:cNvPr>
          <p:cNvPicPr>
            <a:picLocks noChangeAspect="1"/>
          </p:cNvPicPr>
          <p:nvPr/>
        </p:nvPicPr>
        <p:blipFill>
          <a:blip r:embed="rId2"/>
          <a:stretch>
            <a:fillRect/>
          </a:stretch>
        </p:blipFill>
        <p:spPr>
          <a:xfrm>
            <a:off x="0" y="2770909"/>
            <a:ext cx="24383999" cy="10945091"/>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Implementation"/>
          <p:cNvSpPr txBox="1">
            <a:spLocks noGrp="1"/>
          </p:cNvSpPr>
          <p:nvPr>
            <p:ph type="title"/>
          </p:nvPr>
        </p:nvSpPr>
        <p:spPr>
          <a:xfrm>
            <a:off x="411126" y="289423"/>
            <a:ext cx="21945600" cy="1727200"/>
          </a:xfrm>
          <a:prstGeom prst="rect">
            <a:avLst/>
          </a:prstGeom>
        </p:spPr>
        <p:txBody>
          <a:bodyPr/>
          <a:lstStyle>
            <a:lvl1pPr>
              <a:defRPr spc="-100"/>
            </a:lvl1pPr>
          </a:lstStyle>
          <a:p>
            <a:r>
              <a:rPr dirty="0"/>
              <a:t>Implementation</a:t>
            </a:r>
          </a:p>
        </p:txBody>
      </p:sp>
      <p:sp>
        <p:nvSpPr>
          <p:cNvPr id="4" name="Rectangle 3">
            <a:extLst>
              <a:ext uri="{FF2B5EF4-FFF2-40B4-BE49-F238E27FC236}">
                <a16:creationId xmlns:a16="http://schemas.microsoft.com/office/drawing/2014/main" id="{9C8480E6-F276-CBB1-20AB-7C61BD5FAD0E}"/>
              </a:ext>
            </a:extLst>
          </p:cNvPr>
          <p:cNvSpPr/>
          <p:nvPr/>
        </p:nvSpPr>
        <p:spPr>
          <a:xfrm>
            <a:off x="13120577" y="1614135"/>
            <a:ext cx="7676707" cy="2577116"/>
          </a:xfrm>
          <a:prstGeom prst="rect">
            <a:avLst/>
          </a:prstGeom>
          <a:solidFill>
            <a:schemeClr val="bg1"/>
          </a:solidFill>
          <a:ln w="25400" cap="flat">
            <a:solidFill>
              <a:schemeClr val="bg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800" b="1" dirty="0">
                <a:latin typeface="Arial" panose="020B0604020202020204" pitchFamily="34" charset="0"/>
                <a:cs typeface="Arial" panose="020B0604020202020204" pitchFamily="34" charset="0"/>
              </a:rPr>
              <a:t>Step 2: Network Setup</a:t>
            </a: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Initialize the Attention U-Net++ architecture.</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Split dataset into 80% Training and 20% Validation data.</a:t>
            </a:r>
          </a:p>
        </p:txBody>
      </p:sp>
      <p:sp>
        <p:nvSpPr>
          <p:cNvPr id="5" name="Rectangle 4">
            <a:extLst>
              <a:ext uri="{FF2B5EF4-FFF2-40B4-BE49-F238E27FC236}">
                <a16:creationId xmlns:a16="http://schemas.microsoft.com/office/drawing/2014/main" id="{4249569C-71B8-1264-D1AE-E851A1013335}"/>
              </a:ext>
            </a:extLst>
          </p:cNvPr>
          <p:cNvSpPr/>
          <p:nvPr/>
        </p:nvSpPr>
        <p:spPr>
          <a:xfrm>
            <a:off x="12929190" y="5527486"/>
            <a:ext cx="9229062" cy="3660489"/>
          </a:xfrm>
          <a:prstGeom prst="rect">
            <a:avLst/>
          </a:prstGeom>
          <a:solidFill>
            <a:srgbClr val="FFFFFF"/>
          </a:solidFill>
          <a:ln w="25400" cap="flat">
            <a:solidFill>
              <a:schemeClr val="bg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800" b="1" dirty="0">
                <a:latin typeface="Arial" panose="020B0604020202020204" pitchFamily="34" charset="0"/>
                <a:cs typeface="Arial" panose="020B0604020202020204" pitchFamily="34" charset="0"/>
              </a:rPr>
              <a:t>Step 4: Validation Cycle</a:t>
            </a: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Test the model on pristine, unseen validation images.</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Calculate the accuracy (Dice Score) against the doctor's ground truth.</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Save the network weights to a file if the accuracy improves upon the previous best. </a:t>
            </a:r>
          </a:p>
        </p:txBody>
      </p:sp>
      <p:sp>
        <p:nvSpPr>
          <p:cNvPr id="6" name="Rectangle 5">
            <a:extLst>
              <a:ext uri="{FF2B5EF4-FFF2-40B4-BE49-F238E27FC236}">
                <a16:creationId xmlns:a16="http://schemas.microsoft.com/office/drawing/2014/main" id="{C2605EE2-D025-4539-7729-6AFE015DA9DA}"/>
              </a:ext>
            </a:extLst>
          </p:cNvPr>
          <p:cNvSpPr/>
          <p:nvPr/>
        </p:nvSpPr>
        <p:spPr>
          <a:xfrm>
            <a:off x="1063254" y="9630205"/>
            <a:ext cx="9441712" cy="3660489"/>
          </a:xfrm>
          <a:prstGeom prst="rect">
            <a:avLst/>
          </a:prstGeom>
          <a:solidFill>
            <a:srgbClr val="FFFFFF"/>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800" b="1" dirty="0">
                <a:latin typeface="Arial" panose="020B0604020202020204" pitchFamily="34" charset="0"/>
                <a:cs typeface="Arial" panose="020B0604020202020204" pitchFamily="34" charset="0"/>
              </a:rPr>
              <a:t>Step 5: System Deployment</a:t>
            </a: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Load the finalized model file into a graphical web dashboard.</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Predict and display the predicted organ overlay in real-time.</a:t>
            </a:r>
          </a:p>
          <a:p>
            <a:pPr marL="0" marR="0" indent="0" algn="l" defTabSz="2438337" rtl="0" fontAlgn="auto" latinLnBrk="0" hangingPunct="0">
              <a:lnSpc>
                <a:spcPct val="90000"/>
              </a:lnSpc>
              <a:spcBef>
                <a:spcPts val="2400"/>
              </a:spcBef>
              <a:spcAft>
                <a:spcPts val="0"/>
              </a:spcAft>
              <a:buClrTx/>
              <a:buSzTx/>
              <a:buFontTx/>
              <a:buNone/>
              <a:tabLst/>
            </a:pPr>
            <a:endParaRPr kumimoji="0" lang="en-US"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Canela Bold"/>
            </a:endParaRPr>
          </a:p>
        </p:txBody>
      </p:sp>
      <p:sp>
        <p:nvSpPr>
          <p:cNvPr id="7" name="Rectangle 6">
            <a:extLst>
              <a:ext uri="{FF2B5EF4-FFF2-40B4-BE49-F238E27FC236}">
                <a16:creationId xmlns:a16="http://schemas.microsoft.com/office/drawing/2014/main" id="{ED00B763-3433-9DFD-31F0-37CDE3B34BC9}"/>
              </a:ext>
            </a:extLst>
          </p:cNvPr>
          <p:cNvSpPr/>
          <p:nvPr/>
        </p:nvSpPr>
        <p:spPr>
          <a:xfrm>
            <a:off x="1036674" y="5189168"/>
            <a:ext cx="9133361" cy="4743863"/>
          </a:xfrm>
          <a:prstGeom prst="rect">
            <a:avLst/>
          </a:prstGeom>
          <a:solidFill>
            <a:srgbClr val="FFFFFF"/>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800" b="1" dirty="0">
                <a:latin typeface="Arial" panose="020B0604020202020204" pitchFamily="34" charset="0"/>
                <a:cs typeface="Arial" panose="020B0604020202020204" pitchFamily="34" charset="0"/>
              </a:rPr>
              <a:t>Step 3: Training Cycle</a:t>
            </a: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Apply random shape distortions (Augmentation) to the training images.</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Have the model predict the boundaries and calculate internal errors.</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Update the network parameters to penalize those errors.</a:t>
            </a:r>
          </a:p>
          <a:p>
            <a:pPr marL="0" marR="0" indent="0" algn="l" defTabSz="2438337" rtl="0" fontAlgn="auto" latinLnBrk="0" hangingPunct="0">
              <a:lnSpc>
                <a:spcPct val="90000"/>
              </a:lnSpc>
              <a:spcBef>
                <a:spcPts val="2400"/>
              </a:spcBef>
              <a:spcAft>
                <a:spcPts val="0"/>
              </a:spcAft>
              <a:buClrTx/>
              <a:buSzTx/>
              <a:buFontTx/>
              <a:buNone/>
              <a:tabLst/>
            </a:pPr>
            <a:endParaRPr kumimoji="0" lang="en-US"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Canela Bold"/>
            </a:endParaRPr>
          </a:p>
        </p:txBody>
      </p:sp>
      <p:sp>
        <p:nvSpPr>
          <p:cNvPr id="8" name="Rectangle 7">
            <a:extLst>
              <a:ext uri="{FF2B5EF4-FFF2-40B4-BE49-F238E27FC236}">
                <a16:creationId xmlns:a16="http://schemas.microsoft.com/office/drawing/2014/main" id="{F5349823-0C30-2A8E-4F90-FC298D84D79B}"/>
              </a:ext>
            </a:extLst>
          </p:cNvPr>
          <p:cNvSpPr/>
          <p:nvPr/>
        </p:nvSpPr>
        <p:spPr>
          <a:xfrm>
            <a:off x="1183756" y="1638224"/>
            <a:ext cx="10703441" cy="3580467"/>
          </a:xfrm>
          <a:prstGeom prst="rect">
            <a:avLst/>
          </a:prstGeom>
          <a:solidFill>
            <a:srgbClr val="FFFFFF"/>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800" b="1" dirty="0">
                <a:latin typeface="Arial" panose="020B0604020202020204" pitchFamily="34" charset="0"/>
                <a:cs typeface="Arial" panose="020B0604020202020204" pitchFamily="34" charset="0"/>
              </a:rPr>
              <a:t>Step 1: Data Preparation                                                                                                              </a:t>
            </a: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Extract 2D slices from the 3D scans.                </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Discard any slice that does not contain the target organ.</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Apply contrast windowing and resize images to 256x256.</a:t>
            </a:r>
          </a:p>
          <a:p>
            <a:pPr marL="0" marR="0" indent="0" defTabSz="2438337" rtl="0" fontAlgn="auto" latinLnBrk="0" hangingPunct="0">
              <a:lnSpc>
                <a:spcPct val="90000"/>
              </a:lnSpc>
              <a:spcBef>
                <a:spcPts val="2400"/>
              </a:spcBef>
              <a:spcAft>
                <a:spcPts val="0"/>
              </a:spcAft>
              <a:buClrTx/>
              <a:buSzTx/>
              <a:buFontTx/>
              <a:buNone/>
              <a:tabLst/>
            </a:pPr>
            <a:endParaRPr kumimoji="0" lang="en-US"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Canela Bo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Implementation"/>
          <p:cNvSpPr txBox="1">
            <a:spLocks noGrp="1"/>
          </p:cNvSpPr>
          <p:nvPr>
            <p:ph type="title"/>
          </p:nvPr>
        </p:nvSpPr>
        <p:spPr>
          <a:prstGeom prst="rect">
            <a:avLst/>
          </a:prstGeom>
        </p:spPr>
        <p:txBody>
          <a:bodyPr/>
          <a:lstStyle>
            <a:lvl1pPr>
              <a:defRPr spc="-100"/>
            </a:lvl1pPr>
          </a:lstStyle>
          <a:p>
            <a:r>
              <a:t>Implementation</a:t>
            </a:r>
          </a:p>
        </p:txBody>
      </p:sp>
      <p:pic>
        <p:nvPicPr>
          <p:cNvPr id="2" name="Picture 1" descr="A collage of images of the body&#10;&#10;AI-generated content may be incorrect.">
            <a:extLst>
              <a:ext uri="{FF2B5EF4-FFF2-40B4-BE49-F238E27FC236}">
                <a16:creationId xmlns:a16="http://schemas.microsoft.com/office/drawing/2014/main" id="{5A444A83-2301-B351-F23C-5AAB1C87FC21}"/>
              </a:ext>
            </a:extLst>
          </p:cNvPr>
          <p:cNvPicPr>
            <a:picLocks noChangeAspect="1"/>
          </p:cNvPicPr>
          <p:nvPr/>
        </p:nvPicPr>
        <p:blipFill>
          <a:blip r:embed="rId2"/>
          <a:stretch>
            <a:fillRect/>
          </a:stretch>
        </p:blipFill>
        <p:spPr>
          <a:xfrm>
            <a:off x="5714014" y="3426013"/>
            <a:ext cx="12955972" cy="8293099"/>
          </a:xfrm>
          <a:prstGeom prst="rect">
            <a:avLst/>
          </a:prstGeom>
        </p:spPr>
      </p:pic>
    </p:spTree>
    <p:extLst>
      <p:ext uri="{BB962C8B-B14F-4D97-AF65-F5344CB8AC3E}">
        <p14:creationId xmlns:p14="http://schemas.microsoft.com/office/powerpoint/2010/main" val="399526017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Implementation"/>
          <p:cNvSpPr txBox="1">
            <a:spLocks noGrp="1"/>
          </p:cNvSpPr>
          <p:nvPr>
            <p:ph type="title"/>
          </p:nvPr>
        </p:nvSpPr>
        <p:spPr>
          <a:prstGeom prst="rect">
            <a:avLst/>
          </a:prstGeom>
        </p:spPr>
        <p:txBody>
          <a:bodyPr/>
          <a:lstStyle>
            <a:lvl1pPr>
              <a:defRPr spc="-100"/>
            </a:lvl1pPr>
          </a:lstStyle>
          <a:p>
            <a:r>
              <a:t>Implementation</a:t>
            </a:r>
          </a:p>
        </p:txBody>
      </p:sp>
      <p:pic>
        <p:nvPicPr>
          <p:cNvPr id="2" name="Picture 1" descr="A collage of images of a human body&#10;&#10;AI-generated content may be incorrect.">
            <a:extLst>
              <a:ext uri="{FF2B5EF4-FFF2-40B4-BE49-F238E27FC236}">
                <a16:creationId xmlns:a16="http://schemas.microsoft.com/office/drawing/2014/main" id="{134A36E0-C091-6B61-43C9-B67AA55F942D}"/>
              </a:ext>
            </a:extLst>
          </p:cNvPr>
          <p:cNvPicPr>
            <a:picLocks noChangeAspect="1"/>
          </p:cNvPicPr>
          <p:nvPr/>
        </p:nvPicPr>
        <p:blipFill>
          <a:blip r:embed="rId2"/>
          <a:stretch>
            <a:fillRect/>
          </a:stretch>
        </p:blipFill>
        <p:spPr>
          <a:xfrm>
            <a:off x="4595091" y="3570331"/>
            <a:ext cx="15193818" cy="8356600"/>
          </a:xfrm>
          <a:prstGeom prst="rect">
            <a:avLst/>
          </a:prstGeom>
        </p:spPr>
      </p:pic>
    </p:spTree>
    <p:extLst>
      <p:ext uri="{BB962C8B-B14F-4D97-AF65-F5344CB8AC3E}">
        <p14:creationId xmlns:p14="http://schemas.microsoft.com/office/powerpoint/2010/main" val="280668698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Datasets"/>
          <p:cNvSpPr txBox="1">
            <a:spLocks noGrp="1"/>
          </p:cNvSpPr>
          <p:nvPr>
            <p:ph type="title"/>
          </p:nvPr>
        </p:nvSpPr>
        <p:spPr>
          <a:xfrm>
            <a:off x="9719132" y="991062"/>
            <a:ext cx="4348975" cy="1727200"/>
          </a:xfrm>
          <a:prstGeom prst="rect">
            <a:avLst/>
          </a:prstGeom>
        </p:spPr>
        <p:txBody>
          <a:bodyPr/>
          <a:lstStyle>
            <a:lvl1pPr algn="r">
              <a:defRPr spc="-100"/>
            </a:lvl1pPr>
          </a:lstStyle>
          <a:p>
            <a:r>
              <a:rPr dirty="0"/>
              <a:t>Datasets</a:t>
            </a:r>
          </a:p>
        </p:txBody>
      </p:sp>
      <p:graphicFrame>
        <p:nvGraphicFramePr>
          <p:cNvPr id="3" name="Table 2">
            <a:extLst>
              <a:ext uri="{FF2B5EF4-FFF2-40B4-BE49-F238E27FC236}">
                <a16:creationId xmlns:a16="http://schemas.microsoft.com/office/drawing/2014/main" id="{58C7E92C-4409-5D3F-C6FE-496D2B669D8C}"/>
              </a:ext>
            </a:extLst>
          </p:cNvPr>
          <p:cNvGraphicFramePr>
            <a:graphicFrameLocks noGrp="1"/>
          </p:cNvGraphicFramePr>
          <p:nvPr>
            <p:extLst>
              <p:ext uri="{D42A27DB-BD31-4B8C-83A1-F6EECF244321}">
                <p14:modId xmlns:p14="http://schemas.microsoft.com/office/powerpoint/2010/main" val="2615129896"/>
              </p:ext>
            </p:extLst>
          </p:nvPr>
        </p:nvGraphicFramePr>
        <p:xfrm>
          <a:off x="914401" y="3133898"/>
          <a:ext cx="22693745" cy="5472986"/>
        </p:xfrm>
        <a:graphic>
          <a:graphicData uri="http://schemas.openxmlformats.org/drawingml/2006/table">
            <a:tbl>
              <a:tblPr firstRow="1" bandRow="1">
                <a:tableStyleId>{5940675A-B579-460E-94D1-54222C63F5DA}</a:tableStyleId>
              </a:tblPr>
              <a:tblGrid>
                <a:gridCol w="4538749">
                  <a:extLst>
                    <a:ext uri="{9D8B030D-6E8A-4147-A177-3AD203B41FA5}">
                      <a16:colId xmlns:a16="http://schemas.microsoft.com/office/drawing/2014/main" val="3109915894"/>
                    </a:ext>
                  </a:extLst>
                </a:gridCol>
                <a:gridCol w="4538749">
                  <a:extLst>
                    <a:ext uri="{9D8B030D-6E8A-4147-A177-3AD203B41FA5}">
                      <a16:colId xmlns:a16="http://schemas.microsoft.com/office/drawing/2014/main" val="2700583686"/>
                    </a:ext>
                  </a:extLst>
                </a:gridCol>
                <a:gridCol w="4538749">
                  <a:extLst>
                    <a:ext uri="{9D8B030D-6E8A-4147-A177-3AD203B41FA5}">
                      <a16:colId xmlns:a16="http://schemas.microsoft.com/office/drawing/2014/main" val="3788847460"/>
                    </a:ext>
                  </a:extLst>
                </a:gridCol>
                <a:gridCol w="4538749">
                  <a:extLst>
                    <a:ext uri="{9D8B030D-6E8A-4147-A177-3AD203B41FA5}">
                      <a16:colId xmlns:a16="http://schemas.microsoft.com/office/drawing/2014/main" val="902609633"/>
                    </a:ext>
                  </a:extLst>
                </a:gridCol>
                <a:gridCol w="4538749">
                  <a:extLst>
                    <a:ext uri="{9D8B030D-6E8A-4147-A177-3AD203B41FA5}">
                      <a16:colId xmlns:a16="http://schemas.microsoft.com/office/drawing/2014/main" val="381452412"/>
                    </a:ext>
                  </a:extLst>
                </a:gridCol>
              </a:tblGrid>
              <a:tr h="1215989">
                <a:tc>
                  <a:txBody>
                    <a:bodyPr/>
                    <a:lstStyle/>
                    <a:p>
                      <a:r>
                        <a:rPr lang="en-IN" sz="2800" b="1" dirty="0"/>
                        <a:t>SNO</a:t>
                      </a:r>
                    </a:p>
                  </a:txBody>
                  <a:tcPr/>
                </a:tc>
                <a:tc>
                  <a:txBody>
                    <a:bodyPr/>
                    <a:lstStyle/>
                    <a:p>
                      <a:r>
                        <a:rPr lang="en-IN" sz="2800" b="1" dirty="0"/>
                        <a:t>NAME OF THE DATASET</a:t>
                      </a:r>
                    </a:p>
                  </a:txBody>
                  <a:tcPr/>
                </a:tc>
                <a:tc>
                  <a:txBody>
                    <a:bodyPr/>
                    <a:lstStyle/>
                    <a:p>
                      <a:r>
                        <a:rPr lang="en-IN" sz="2800" b="1" dirty="0"/>
                        <a:t>SOURCE OF THE DATASET</a:t>
                      </a:r>
                    </a:p>
                  </a:txBody>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IN" sz="2800" b="1" dirty="0"/>
                        <a:t>REFERENCE LINK OF THE CHOSEN DATASET</a:t>
                      </a:r>
                    </a:p>
                    <a:p>
                      <a:endParaRPr lang="en-IN" sz="2800" b="1" dirty="0"/>
                    </a:p>
                  </a:txBody>
                  <a:tcPr/>
                </a:tc>
                <a:tc>
                  <a:txBody>
                    <a:bodyPr/>
                    <a:lstStyle/>
                    <a:p>
                      <a:r>
                        <a:rPr lang="en-IN" sz="2800" b="1" dirty="0"/>
                        <a:t>DESCRIPTION OF THE DATASET</a:t>
                      </a:r>
                    </a:p>
                  </a:txBody>
                  <a:tcPr/>
                </a:tc>
                <a:extLst>
                  <a:ext uri="{0D108BD9-81ED-4DB2-BD59-A6C34878D82A}">
                    <a16:rowId xmlns:a16="http://schemas.microsoft.com/office/drawing/2014/main" val="3376170259"/>
                  </a:ext>
                </a:extLst>
              </a:tr>
              <a:tr h="4101386">
                <a:tc>
                  <a:txBody>
                    <a:bodyPr/>
                    <a:lstStyle/>
                    <a:p>
                      <a:r>
                        <a:rPr lang="en-IN" sz="2800" b="1" dirty="0"/>
                        <a:t>1</a:t>
                      </a:r>
                    </a:p>
                  </a:txBody>
                  <a:tcPr/>
                </a:tc>
                <a:tc>
                  <a:txBody>
                    <a:bodyPr/>
                    <a:lstStyle/>
                    <a:p>
                      <a:r>
                        <a:rPr lang="en-US" sz="3000" b="0" i="0" u="none" strike="noStrike" cap="none" spc="0" baseline="0" dirty="0">
                          <a:solidFill>
                            <a:schemeClr val="tx1"/>
                          </a:solidFill>
                          <a:effectLst/>
                          <a:uFillTx/>
                          <a:latin typeface="Arial" panose="020B0604020202020204" pitchFamily="34" charset="0"/>
                          <a:ea typeface="+mn-ea"/>
                          <a:cs typeface="Arial" panose="020B0604020202020204" pitchFamily="34" charset="0"/>
                          <a:sym typeface="Graphik"/>
                        </a:rPr>
                        <a:t>KiTS19 (Kidney Tumor Segmentation Challenge 2019) Dataset</a:t>
                      </a:r>
                      <a:endParaRPr lang="en-IN" sz="3000" b="1" dirty="0">
                        <a:latin typeface="Arial" panose="020B0604020202020204" pitchFamily="34" charset="0"/>
                        <a:cs typeface="Arial" panose="020B0604020202020204" pitchFamily="34" charset="0"/>
                      </a:endParaRPr>
                    </a:p>
                  </a:txBody>
                  <a:tcPr/>
                </a:tc>
                <a:tc>
                  <a:txBody>
                    <a:bodyPr/>
                    <a:lstStyle/>
                    <a:p>
                      <a:r>
                        <a:rPr lang="en-US" sz="3000" b="0" i="0" u="none" strike="noStrike" cap="none" spc="0" baseline="0" dirty="0">
                          <a:solidFill>
                            <a:schemeClr val="tx1"/>
                          </a:solidFill>
                          <a:effectLst/>
                          <a:uFillTx/>
                          <a:latin typeface="Arial" panose="020B0604020202020204" pitchFamily="34" charset="0"/>
                          <a:ea typeface="+mn-ea"/>
                          <a:cs typeface="Arial" panose="020B0604020202020204" pitchFamily="34" charset="0"/>
                          <a:sym typeface="Graphik"/>
                        </a:rPr>
                        <a:t>University of Minnesota Medical Center / MICCAI (Medical Image Computing and Computer Assisted Intervention) Society</a:t>
                      </a:r>
                      <a:endParaRPr lang="en-IN" sz="3000" b="1" dirty="0">
                        <a:latin typeface="Arial" panose="020B0604020202020204" pitchFamily="34" charset="0"/>
                        <a:cs typeface="Arial" panose="020B0604020202020204" pitchFamily="34" charset="0"/>
                      </a:endParaRPr>
                    </a:p>
                  </a:txBody>
                  <a:tcPr/>
                </a:tc>
                <a:tc>
                  <a:txBody>
                    <a:bodyPr/>
                    <a:lstStyle/>
                    <a:p>
                      <a:r>
                        <a:rPr lang="en-US" sz="3000" b="0" i="0" u="none" strike="noStrike" cap="none" spc="0" baseline="0" dirty="0">
                          <a:solidFill>
                            <a:schemeClr val="tx1"/>
                          </a:solidFill>
                          <a:effectLst/>
                          <a:uFillTx/>
                          <a:latin typeface="+mn-lt"/>
                          <a:ea typeface="+mn-ea"/>
                          <a:cs typeface="+mn-cs"/>
                          <a:sym typeface="Graphik"/>
                          <a:hlinkClick r:id="rId2"/>
                        </a:rPr>
                        <a:t>https://kits19.grand-challenge.org/</a:t>
                      </a:r>
                      <a:r>
                        <a:rPr lang="en-US" sz="3000" b="0" i="0" u="none" strike="noStrike" cap="none" spc="0" baseline="0" dirty="0">
                          <a:solidFill>
                            <a:schemeClr val="tx1"/>
                          </a:solidFill>
                          <a:effectLst/>
                          <a:uFillTx/>
                          <a:latin typeface="+mn-lt"/>
                          <a:ea typeface="+mn-ea"/>
                          <a:cs typeface="+mn-cs"/>
                          <a:sym typeface="Graphik"/>
                        </a:rPr>
                        <a:t> </a:t>
                      </a:r>
                    </a:p>
                    <a:p>
                      <a:endParaRPr lang="en-US" sz="3000" b="0" i="0" u="none" strike="noStrike" cap="none" spc="0" baseline="0" dirty="0">
                        <a:solidFill>
                          <a:schemeClr val="tx1"/>
                        </a:solidFill>
                        <a:effectLst/>
                        <a:uFillTx/>
                        <a:latin typeface="+mn-lt"/>
                        <a:ea typeface="+mn-ea"/>
                        <a:cs typeface="+mn-cs"/>
                        <a:sym typeface="Graphik"/>
                      </a:endParaRPr>
                    </a:p>
                    <a:p>
                      <a:pPr algn="ctr"/>
                      <a:r>
                        <a:rPr lang="en-US" sz="3000" b="0" i="0" u="none" strike="noStrike" cap="none" spc="0" baseline="0" dirty="0">
                          <a:solidFill>
                            <a:schemeClr val="tx1"/>
                          </a:solidFill>
                          <a:effectLst/>
                          <a:uFillTx/>
                          <a:latin typeface="Arial" panose="020B0604020202020204" pitchFamily="34" charset="0"/>
                          <a:ea typeface="+mn-ea"/>
                          <a:cs typeface="Arial" panose="020B0604020202020204" pitchFamily="34" charset="0"/>
                          <a:sym typeface="Graphik"/>
                          <a:hlinkClick r:id="rId3"/>
                        </a:rPr>
                        <a:t>https://github.com/neheller/kits19</a:t>
                      </a:r>
                      <a:r>
                        <a:rPr lang="en-US" sz="3000" b="0" i="0" u="none" strike="noStrike" cap="none" spc="0" baseline="0" dirty="0">
                          <a:solidFill>
                            <a:schemeClr val="tx1"/>
                          </a:solidFill>
                          <a:effectLst/>
                          <a:uFillTx/>
                          <a:latin typeface="Arial" panose="020B0604020202020204" pitchFamily="34" charset="0"/>
                          <a:ea typeface="+mn-ea"/>
                          <a:cs typeface="Arial" panose="020B0604020202020204" pitchFamily="34" charset="0"/>
                          <a:sym typeface="Graphik"/>
                        </a:rPr>
                        <a:t> </a:t>
                      </a:r>
                    </a:p>
                  </a:txBody>
                  <a:tcPr/>
                </a:tc>
                <a:tc>
                  <a:txBody>
                    <a:bodyPr/>
                    <a:lstStyle/>
                    <a:p>
                      <a:r>
                        <a:rPr lang="en-US" sz="2200" b="0" i="0" u="none" strike="noStrike" cap="none" spc="0" baseline="0" dirty="0">
                          <a:solidFill>
                            <a:schemeClr val="tx1"/>
                          </a:solidFill>
                          <a:effectLst/>
                          <a:uFillTx/>
                          <a:latin typeface="Arial" panose="020B0604020202020204" pitchFamily="34" charset="0"/>
                          <a:ea typeface="+mn-ea"/>
                          <a:cs typeface="Arial" panose="020B0604020202020204" pitchFamily="34" charset="0"/>
                          <a:sym typeface="Graphik"/>
                        </a:rPr>
                        <a:t>The dataset is widely considered the academic gold standard for this physical anatomical region because it features incredibly precise spatial ground-truth masks. These masks meticulously outline both the healthy kidney organ boundaries and any associated renal tumors, painstakingly annotated by medical professionals. </a:t>
                      </a:r>
                      <a:endParaRPr lang="en-IN" sz="22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70717922"/>
                  </a:ext>
                </a:extLst>
              </a:tr>
            </a:tbl>
          </a:graphicData>
        </a:graphic>
      </p:graphicFrame>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Results"/>
          <p:cNvSpPr txBox="1">
            <a:spLocks noGrp="1"/>
          </p:cNvSpPr>
          <p:nvPr>
            <p:ph type="title"/>
          </p:nvPr>
        </p:nvSpPr>
        <p:spPr>
          <a:xfrm>
            <a:off x="1219200" y="774700"/>
            <a:ext cx="21945600" cy="1477846"/>
          </a:xfrm>
          <a:prstGeom prst="rect">
            <a:avLst/>
          </a:prstGeom>
        </p:spPr>
        <p:txBody>
          <a:bodyPr/>
          <a:lstStyle>
            <a:lvl1pPr>
              <a:defRPr spc="-100"/>
            </a:lvl1pPr>
          </a:lstStyle>
          <a:p>
            <a:r>
              <a:rPr dirty="0"/>
              <a:t>Results</a:t>
            </a:r>
          </a:p>
        </p:txBody>
      </p:sp>
      <p:sp>
        <p:nvSpPr>
          <p:cNvPr id="2" name="Rectangle 1">
            <a:extLst>
              <a:ext uri="{FF2B5EF4-FFF2-40B4-BE49-F238E27FC236}">
                <a16:creationId xmlns:a16="http://schemas.microsoft.com/office/drawing/2014/main" id="{09A96127-0D6D-68DF-CC02-DC0252319142}"/>
              </a:ext>
            </a:extLst>
          </p:cNvPr>
          <p:cNvSpPr>
            <a:spLocks noChangeArrowheads="1"/>
          </p:cNvSpPr>
          <p:nvPr/>
        </p:nvSpPr>
        <p:spPr bwMode="auto">
          <a:xfrm>
            <a:off x="1668606" y="2252546"/>
            <a:ext cx="21046787" cy="10064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 proposed </a:t>
            </a:r>
            <a:r>
              <a:rPr kumimoji="0" lang="en-US" altLang="en-US" sz="3600" b="1" i="0" u="none" strike="noStrike" cap="none" normalizeH="0" baseline="0" dirty="0">
                <a:ln>
                  <a:noFill/>
                </a:ln>
                <a:solidFill>
                  <a:schemeClr val="tx1"/>
                </a:solidFill>
                <a:effectLst/>
                <a:latin typeface="Arial" panose="020B0604020202020204" pitchFamily="34" charset="0"/>
              </a:rPr>
              <a:t>Attention U-Net++ model</a:t>
            </a:r>
            <a:r>
              <a:rPr kumimoji="0" lang="en-US" altLang="en-US" sz="3600" b="0" i="0" u="none" strike="noStrike" cap="none" normalizeH="0" baseline="0" dirty="0">
                <a:ln>
                  <a:noFill/>
                </a:ln>
                <a:solidFill>
                  <a:schemeClr val="tx1"/>
                </a:solidFill>
                <a:effectLst/>
                <a:latin typeface="Arial" panose="020B0604020202020204" pitchFamily="34" charset="0"/>
              </a:rPr>
              <a:t> successfully segmented kidney regions from medical images with improved boundary localization and reduced background interference.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Integration of </a:t>
            </a:r>
            <a:r>
              <a:rPr kumimoji="0" lang="en-US" altLang="en-US" sz="3600" b="1" i="0" u="none" strike="noStrike" cap="none" normalizeH="0" baseline="0" dirty="0">
                <a:ln>
                  <a:noFill/>
                </a:ln>
                <a:solidFill>
                  <a:schemeClr val="tx1"/>
                </a:solidFill>
                <a:effectLst/>
                <a:latin typeface="Arial" panose="020B0604020202020204" pitchFamily="34" charset="0"/>
              </a:rPr>
              <a:t>attention mechanisms</a:t>
            </a:r>
            <a:r>
              <a:rPr kumimoji="0" lang="en-US" altLang="en-US" sz="3600" b="0" i="0" u="none" strike="noStrike" cap="none" normalizeH="0" baseline="0" dirty="0">
                <a:ln>
                  <a:noFill/>
                </a:ln>
                <a:solidFill>
                  <a:schemeClr val="tx1"/>
                </a:solidFill>
                <a:effectLst/>
                <a:latin typeface="Arial" panose="020B0604020202020204" pitchFamily="34" charset="0"/>
              </a:rPr>
              <a:t> helped the model focus more effectively on kidney-specific regions, improving segmentation quality compared to basic segmentation approaches.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 use of </a:t>
            </a:r>
            <a:r>
              <a:rPr kumimoji="0" lang="en-US" altLang="en-US" sz="3600" b="1" i="0" u="none" strike="noStrike" cap="none" normalizeH="0" baseline="0" dirty="0">
                <a:ln>
                  <a:noFill/>
                </a:ln>
                <a:solidFill>
                  <a:schemeClr val="tx1"/>
                </a:solidFill>
                <a:effectLst/>
                <a:latin typeface="Arial" panose="020B0604020202020204" pitchFamily="34" charset="0"/>
              </a:rPr>
              <a:t>nested skip connections and deep supervision</a:t>
            </a:r>
            <a:r>
              <a:rPr kumimoji="0" lang="en-US" altLang="en-US" sz="3600" b="0" i="0" u="none" strike="noStrike" cap="none" normalizeH="0" baseline="0" dirty="0">
                <a:ln>
                  <a:noFill/>
                </a:ln>
                <a:solidFill>
                  <a:schemeClr val="tx1"/>
                </a:solidFill>
                <a:effectLst/>
                <a:latin typeface="Arial" panose="020B0604020202020204" pitchFamily="34" charset="0"/>
              </a:rPr>
              <a:t> enhanced feature learning and improved multi-scale representation of kidney structures.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Validation strategies such as </a:t>
            </a:r>
            <a:r>
              <a:rPr kumimoji="0" lang="en-US" altLang="en-US" sz="3600" b="1" i="0" u="none" strike="noStrike" cap="none" normalizeH="0" baseline="0" dirty="0">
                <a:ln>
                  <a:noFill/>
                </a:ln>
                <a:solidFill>
                  <a:schemeClr val="tx1"/>
                </a:solidFill>
                <a:effectLst/>
                <a:latin typeface="Arial" panose="020B0604020202020204" pitchFamily="34" charset="0"/>
              </a:rPr>
              <a:t>patient-wise splitting, data augmentation, and cross-validation</a:t>
            </a:r>
            <a:r>
              <a:rPr kumimoji="0" lang="en-US" altLang="en-US" sz="3600" b="0" i="0" u="none" strike="noStrike" cap="none" normalizeH="0" baseline="0" dirty="0">
                <a:ln>
                  <a:noFill/>
                </a:ln>
                <a:solidFill>
                  <a:schemeClr val="tx1"/>
                </a:solidFill>
                <a:effectLst/>
                <a:latin typeface="Arial" panose="020B0604020202020204" pitchFamily="34" charset="0"/>
              </a:rPr>
              <a:t> contributed to better robustness and generalization of the model.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 model demonstrated reliable performance in handling challenges such as </a:t>
            </a:r>
            <a:r>
              <a:rPr kumimoji="0" lang="en-US" altLang="en-US" sz="3600" b="1" i="0" u="none" strike="noStrike" cap="none" normalizeH="0" baseline="0" dirty="0">
                <a:ln>
                  <a:noFill/>
                </a:ln>
                <a:solidFill>
                  <a:schemeClr val="tx1"/>
                </a:solidFill>
                <a:effectLst/>
                <a:latin typeface="Arial" panose="020B0604020202020204" pitchFamily="34" charset="0"/>
              </a:rPr>
              <a:t>low contrast, anatomical variability, and complex kidney boundaries</a:t>
            </a: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Overall, the proposed system shows strong potential for supporting </a:t>
            </a:r>
            <a:r>
              <a:rPr kumimoji="0" lang="en-US" altLang="en-US" sz="3600" b="1" i="0" u="none" strike="noStrike" cap="none" normalizeH="0" baseline="0" dirty="0">
                <a:ln>
                  <a:noFill/>
                </a:ln>
                <a:solidFill>
                  <a:schemeClr val="tx1"/>
                </a:solidFill>
                <a:effectLst/>
                <a:latin typeface="Arial" panose="020B0604020202020204" pitchFamily="34" charset="0"/>
              </a:rPr>
              <a:t>automated clinical kidney analysis and medical decision-making</a:t>
            </a: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Conclusion"/>
          <p:cNvSpPr txBox="1">
            <a:spLocks noGrp="1"/>
          </p:cNvSpPr>
          <p:nvPr>
            <p:ph type="title"/>
          </p:nvPr>
        </p:nvSpPr>
        <p:spPr>
          <a:xfrm>
            <a:off x="969818" y="1522845"/>
            <a:ext cx="21945600" cy="1727200"/>
          </a:xfrm>
          <a:prstGeom prst="rect">
            <a:avLst/>
          </a:prstGeom>
        </p:spPr>
        <p:txBody>
          <a:bodyPr/>
          <a:lstStyle>
            <a:lvl1pPr>
              <a:defRPr spc="-100"/>
            </a:lvl1pPr>
          </a:lstStyle>
          <a:p>
            <a:r>
              <a:rPr dirty="0"/>
              <a:t>Conclusion</a:t>
            </a:r>
          </a:p>
        </p:txBody>
      </p:sp>
      <p:sp>
        <p:nvSpPr>
          <p:cNvPr id="207" name="&lt;Insert&gt;"/>
          <p:cNvSpPr txBox="1">
            <a:spLocks noGrp="1"/>
          </p:cNvSpPr>
          <p:nvPr>
            <p:ph type="body" idx="1"/>
          </p:nvPr>
        </p:nvSpPr>
        <p:spPr>
          <a:xfrm>
            <a:off x="1217710" y="3505200"/>
            <a:ext cx="21948580" cy="8483600"/>
          </a:xfrm>
          <a:prstGeom prst="rect">
            <a:avLst/>
          </a:prstGeom>
        </p:spPr>
        <p:txBody>
          <a:bodyPr/>
          <a:lstStyle>
            <a:lvl1pPr marL="0" indent="0">
              <a:buSzTx/>
              <a:buNone/>
            </a:lvl1pPr>
          </a:lstStyle>
          <a:p>
            <a:r>
              <a:rPr lang="en-US" dirty="0"/>
              <a:t>This project presents an </a:t>
            </a:r>
            <a:r>
              <a:rPr lang="en-US" b="1" dirty="0"/>
              <a:t>Attention U-Net++ based deep learning model</a:t>
            </a:r>
            <a:r>
              <a:rPr lang="en-US" dirty="0"/>
              <a:t> for automated kidney segmentation from medical images. By integrating </a:t>
            </a:r>
            <a:r>
              <a:rPr lang="en-US" b="1" dirty="0"/>
              <a:t>attention mechanisms, nested skip connections, and deep supervision</a:t>
            </a:r>
            <a:r>
              <a:rPr lang="en-US" dirty="0"/>
              <a:t>, the proposed system improves feature extraction and segmentation accuracy.</a:t>
            </a:r>
          </a:p>
          <a:p>
            <a:r>
              <a:rPr lang="en-US" dirty="0"/>
              <a:t>The model effectively addresses challenges such as </a:t>
            </a:r>
            <a:r>
              <a:rPr lang="en-US" b="1" dirty="0"/>
              <a:t>low contrast, anatomical variability, and background interference</a:t>
            </a:r>
            <a:r>
              <a:rPr lang="en-US" dirty="0"/>
              <a:t>, which are common in kidney imaging. Validation techniques such as </a:t>
            </a:r>
            <a:r>
              <a:rPr lang="en-US" b="1" dirty="0"/>
              <a:t>data augmentation, patient-wise splitting, and cross-validation</a:t>
            </a:r>
            <a:r>
              <a:rPr lang="en-US" dirty="0"/>
              <a:t> further improve the robustness and reliability of the system.</a:t>
            </a:r>
          </a:p>
          <a:p>
            <a:r>
              <a:rPr lang="en-US" dirty="0"/>
              <a:t>Overall, the proposed approach demonstrates strong potential for </a:t>
            </a:r>
            <a:r>
              <a:rPr lang="en-US" b="1" dirty="0"/>
              <a:t>accurate, consistent, and automated kidney segmentation</a:t>
            </a:r>
            <a:r>
              <a:rPr lang="en-US" dirty="0"/>
              <a:t>, making it useful for </a:t>
            </a:r>
            <a:r>
              <a:rPr lang="en-US" b="1" dirty="0"/>
              <a:t>clinical diagnosis, treatment planning, and medical image analysis</a:t>
            </a:r>
            <a:r>
              <a:rPr lang="en-US" dirty="0"/>
              <a:t>.</a:t>
            </a:r>
          </a:p>
          <a:p>
            <a:endParaRPr dirty="0">
              <a:solidFill>
                <a:srgbClr val="FF0000"/>
              </a:solidFill>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Future Scope"/>
          <p:cNvSpPr txBox="1">
            <a:spLocks noGrp="1"/>
          </p:cNvSpPr>
          <p:nvPr>
            <p:ph type="title"/>
          </p:nvPr>
        </p:nvSpPr>
        <p:spPr>
          <a:xfrm>
            <a:off x="7365211" y="1266625"/>
            <a:ext cx="7872762" cy="942588"/>
          </a:xfrm>
          <a:prstGeom prst="rect">
            <a:avLst/>
          </a:prstGeom>
        </p:spPr>
        <p:txBody>
          <a:bodyPr>
            <a:normAutofit fontScale="90000"/>
          </a:bodyPr>
          <a:lstStyle>
            <a:lvl1pPr algn="l">
              <a:defRPr spc="-100"/>
            </a:lvl1pPr>
          </a:lstStyle>
          <a:p>
            <a:pPr algn="ctr"/>
            <a:r>
              <a:rPr dirty="0"/>
              <a:t>Future Scope</a:t>
            </a:r>
          </a:p>
        </p:txBody>
      </p:sp>
      <p:sp>
        <p:nvSpPr>
          <p:cNvPr id="210" name="&lt;Insert&gt;"/>
          <p:cNvSpPr txBox="1">
            <a:spLocks noGrp="1"/>
          </p:cNvSpPr>
          <p:nvPr>
            <p:ph type="body" idx="1"/>
          </p:nvPr>
        </p:nvSpPr>
        <p:spPr>
          <a:xfrm>
            <a:off x="1217710" y="3023186"/>
            <a:ext cx="21948580" cy="8483601"/>
          </a:xfrm>
          <a:prstGeom prst="rect">
            <a:avLst/>
          </a:prstGeom>
        </p:spPr>
        <p:txBody>
          <a:bodyPr>
            <a:normAutofit lnSpcReduction="10000"/>
          </a:bodyPr>
          <a:lstStyle>
            <a:lvl1pPr marL="0" indent="0">
              <a:buSzTx/>
              <a:buNone/>
            </a:lvl1pPr>
          </a:lstStyle>
          <a:p>
            <a:r>
              <a:rPr lang="en-US" dirty="0"/>
              <a:t>Extend the proposed model for </a:t>
            </a:r>
            <a:r>
              <a:rPr lang="en-US" b="1" dirty="0"/>
              <a:t>3D kidney segmentation</a:t>
            </a:r>
            <a:r>
              <a:rPr lang="en-US" dirty="0"/>
              <a:t> to capture richer spatial and anatomical information. </a:t>
            </a:r>
          </a:p>
          <a:p>
            <a:r>
              <a:rPr lang="en-US" dirty="0"/>
              <a:t>Improve segmentation performance by integrating </a:t>
            </a:r>
            <a:r>
              <a:rPr lang="en-US" b="1" dirty="0"/>
              <a:t>transformer-based modules</a:t>
            </a:r>
            <a:r>
              <a:rPr lang="en-US" dirty="0"/>
              <a:t> and more advanced </a:t>
            </a:r>
            <a:r>
              <a:rPr lang="en-US" b="1" dirty="0"/>
              <a:t>attention mechanisms</a:t>
            </a:r>
            <a:r>
              <a:rPr lang="en-US" dirty="0"/>
              <a:t>. </a:t>
            </a:r>
          </a:p>
          <a:p>
            <a:r>
              <a:rPr lang="en-US" dirty="0"/>
              <a:t>Expand the system to segment not only kidneys but also </a:t>
            </a:r>
            <a:r>
              <a:rPr lang="en-US" b="1" dirty="0"/>
              <a:t>tumors, cysts, and other abdominal organs</a:t>
            </a:r>
            <a:r>
              <a:rPr lang="en-US" dirty="0"/>
              <a:t> for broader clinical applications. </a:t>
            </a:r>
          </a:p>
          <a:p>
            <a:r>
              <a:rPr lang="en-US" dirty="0"/>
              <a:t>Train and validate the model on </a:t>
            </a:r>
            <a:r>
              <a:rPr lang="en-US" b="1" dirty="0"/>
              <a:t>larger and more diverse medical datasets</a:t>
            </a:r>
            <a:r>
              <a:rPr lang="en-US" dirty="0"/>
              <a:t> to improve generalization and real-world reliability. </a:t>
            </a:r>
          </a:p>
          <a:p>
            <a:r>
              <a:rPr lang="en-US" dirty="0"/>
              <a:t>Develop a </a:t>
            </a:r>
            <a:r>
              <a:rPr lang="en-US" b="1" dirty="0"/>
              <a:t>real-time clinical support system</a:t>
            </a:r>
            <a:r>
              <a:rPr lang="en-US" dirty="0"/>
              <a:t> that can assist radiologists in diagnosis and treatment planning. </a:t>
            </a:r>
          </a:p>
          <a:p>
            <a:r>
              <a:rPr lang="en-US" dirty="0"/>
              <a:t>Explore deployment of the model in </a:t>
            </a:r>
            <a:r>
              <a:rPr lang="en-US" b="1" dirty="0"/>
              <a:t>hospital imaging workflows</a:t>
            </a:r>
            <a:r>
              <a:rPr lang="en-US" dirty="0"/>
              <a:t> for practical healthcare applications. </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Publication Details</a:t>
            </a:r>
          </a:p>
        </p:txBody>
      </p:sp>
      <p:sp>
        <p:nvSpPr>
          <p:cNvPr id="3" name="Text Placeholder 2"/>
          <p:cNvSpPr>
            <a:spLocks noGrp="1"/>
          </p:cNvSpPr>
          <p:nvPr>
            <p:ph type="body" idx="1"/>
          </p:nvPr>
        </p:nvSpPr>
        <p:spPr>
          <a:xfrm>
            <a:off x="1216224" y="2849418"/>
            <a:ext cx="10338468" cy="8483600"/>
          </a:xfrm>
        </p:spPr>
        <p:txBody>
          <a:bodyPr/>
          <a:lstStyle/>
          <a:p>
            <a:pPr fontAlgn="base"/>
            <a:r>
              <a:rPr lang="en-IN" b="1" dirty="0"/>
              <a:t>Title</a:t>
            </a:r>
            <a:r>
              <a:rPr lang="en-IN" dirty="0"/>
              <a:t>: </a:t>
            </a:r>
            <a:r>
              <a:rPr lang="en-US" sz="4000" i="1" dirty="0">
                <a:latin typeface="Helvetica" pitchFamily="2" charset="0"/>
                <a:cs typeface="APPLE CHANCERY" panose="03020702040506060504" pitchFamily="66" charset="-79"/>
              </a:rPr>
              <a:t>Deep Learning Approach for Kidney CT Segmentation Using Attention U-Net++</a:t>
            </a:r>
          </a:p>
          <a:p>
            <a:pPr fontAlgn="base"/>
            <a:r>
              <a:rPr lang="en-IN" dirty="0"/>
              <a:t>​</a:t>
            </a:r>
            <a:r>
              <a:rPr lang="en-IN" b="1" dirty="0"/>
              <a:t>Conference</a:t>
            </a:r>
            <a:r>
              <a:rPr lang="en-IN" dirty="0"/>
              <a:t>: IEEE​</a:t>
            </a:r>
          </a:p>
          <a:p>
            <a:pPr fontAlgn="base"/>
            <a:r>
              <a:rPr lang="en-IN" b="1" dirty="0"/>
              <a:t>Status</a:t>
            </a:r>
            <a:r>
              <a:rPr lang="en-IN" dirty="0"/>
              <a:t>: Under review</a:t>
            </a:r>
          </a:p>
          <a:p>
            <a:pPr marL="0" indent="0">
              <a:buNone/>
            </a:pPr>
            <a:endParaRPr lang="en-IN" dirty="0">
              <a:solidFill>
                <a:srgbClr val="FF0000"/>
              </a:solidFill>
            </a:endParaRPr>
          </a:p>
        </p:txBody>
      </p:sp>
      <p:pic>
        <p:nvPicPr>
          <p:cNvPr id="9" name="Picture 8">
            <a:extLst>
              <a:ext uri="{FF2B5EF4-FFF2-40B4-BE49-F238E27FC236}">
                <a16:creationId xmlns:a16="http://schemas.microsoft.com/office/drawing/2014/main" id="{5D3EF7F5-D3A5-35C8-3AE7-5FF022763E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5426" y="2501900"/>
            <a:ext cx="8559555" cy="9939481"/>
          </a:xfrm>
          <a:prstGeom prst="rect">
            <a:avLst/>
          </a:prstGeom>
        </p:spPr>
      </p:pic>
    </p:spTree>
    <p:extLst>
      <p:ext uri="{BB962C8B-B14F-4D97-AF65-F5344CB8AC3E}">
        <p14:creationId xmlns:p14="http://schemas.microsoft.com/office/powerpoint/2010/main" val="393950553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eferences"/>
          <p:cNvSpPr txBox="1">
            <a:spLocks noGrp="1"/>
          </p:cNvSpPr>
          <p:nvPr>
            <p:ph type="title"/>
          </p:nvPr>
        </p:nvSpPr>
        <p:spPr>
          <a:xfrm>
            <a:off x="8735799" y="1332261"/>
            <a:ext cx="5984488" cy="1727200"/>
          </a:xfrm>
          <a:prstGeom prst="rect">
            <a:avLst/>
          </a:prstGeom>
        </p:spPr>
        <p:txBody>
          <a:bodyPr/>
          <a:lstStyle>
            <a:lvl1pPr algn="r">
              <a:defRPr spc="-100"/>
            </a:lvl1pPr>
          </a:lstStyle>
          <a:p>
            <a:pPr algn="ctr"/>
            <a:r>
              <a:rPr dirty="0"/>
              <a:t>References</a:t>
            </a:r>
          </a:p>
        </p:txBody>
      </p:sp>
      <p:sp>
        <p:nvSpPr>
          <p:cNvPr id="213" name="(Things must be cited properly)"/>
          <p:cNvSpPr txBox="1">
            <a:spLocks noGrp="1"/>
          </p:cNvSpPr>
          <p:nvPr>
            <p:ph type="body" idx="1"/>
          </p:nvPr>
        </p:nvSpPr>
        <p:spPr>
          <a:xfrm>
            <a:off x="1217710" y="3296022"/>
            <a:ext cx="21948580" cy="8483602"/>
          </a:xfrm>
          <a:prstGeom prst="rect">
            <a:avLst/>
          </a:prstGeom>
        </p:spPr>
        <p:txBody>
          <a:bodyPr>
            <a:normAutofit fontScale="92500" lnSpcReduction="10000"/>
          </a:bodyPr>
          <a:lstStyle>
            <a:lvl1pPr marL="0" indent="0">
              <a:buSzTx/>
              <a:buNone/>
            </a:lvl1pPr>
          </a:lstStyle>
          <a:p>
            <a:r>
              <a:rPr lang="en-IN" dirty="0"/>
              <a:t>Zoellner, F. G., Schock, D., Kertzscher, G., et al. (2021). </a:t>
            </a:r>
            <a:r>
              <a:rPr lang="en-IN" i="1" dirty="0"/>
              <a:t>Kidney segmentation in renal magnetic resonance imaging: Current status and prospects</a:t>
            </a:r>
            <a:r>
              <a:rPr lang="en-IN" dirty="0"/>
              <a:t>. </a:t>
            </a:r>
            <a:r>
              <a:rPr lang="en-IN" b="1" dirty="0"/>
              <a:t>IEEE Access, 9</a:t>
            </a:r>
            <a:r>
              <a:rPr lang="en-IN" dirty="0"/>
              <a:t>, 27037–27066.</a:t>
            </a:r>
          </a:p>
          <a:p>
            <a:r>
              <a:rPr lang="en-IN" dirty="0"/>
              <a:t>Naqvi, N. Z., &amp; </a:t>
            </a:r>
            <a:r>
              <a:rPr lang="en-IN" dirty="0" err="1"/>
              <a:t>Seeja</a:t>
            </a:r>
            <a:r>
              <a:rPr lang="en-IN" dirty="0"/>
              <a:t>, K. R. (2025). </a:t>
            </a:r>
            <a:r>
              <a:rPr lang="en-IN" i="1" dirty="0"/>
              <a:t>An attention-based residual U-Net for tumour segmentation using multi-modal MRI brain images</a:t>
            </a:r>
            <a:r>
              <a:rPr lang="en-IN" dirty="0"/>
              <a:t>. </a:t>
            </a:r>
            <a:r>
              <a:rPr lang="en-IN" b="1" dirty="0"/>
              <a:t>IEEE Access</a:t>
            </a:r>
            <a:r>
              <a:rPr lang="en-IN" dirty="0"/>
              <a:t>.</a:t>
            </a:r>
          </a:p>
          <a:p>
            <a:r>
              <a:rPr lang="en-IN" dirty="0" err="1"/>
              <a:t>Wisaeng</a:t>
            </a:r>
            <a:r>
              <a:rPr lang="en-IN" dirty="0"/>
              <a:t>, K. (2023). </a:t>
            </a:r>
            <a:r>
              <a:rPr lang="en-IN" i="1" dirty="0"/>
              <a:t>U-Net++ DSM: Improved U-Net++ for brain </a:t>
            </a:r>
            <a:r>
              <a:rPr lang="en-IN" i="1" dirty="0" err="1"/>
              <a:t>tumor</a:t>
            </a:r>
            <a:r>
              <a:rPr lang="en-IN" i="1" dirty="0"/>
              <a:t> segmentation with deep supervision mechanism</a:t>
            </a:r>
            <a:r>
              <a:rPr lang="en-IN" dirty="0"/>
              <a:t>. </a:t>
            </a:r>
            <a:r>
              <a:rPr lang="en-IN" b="1" dirty="0"/>
              <a:t>IEEE Access, 11</a:t>
            </a:r>
            <a:r>
              <a:rPr lang="en-IN" dirty="0"/>
              <a:t>, 132268–132285.</a:t>
            </a:r>
          </a:p>
          <a:p>
            <a:r>
              <a:rPr lang="en-IN" dirty="0"/>
              <a:t>Afnaan, K., et al. (2024). </a:t>
            </a:r>
            <a:r>
              <a:rPr lang="en-IN" i="1" dirty="0" err="1"/>
              <a:t>VisioRenalNet</a:t>
            </a:r>
            <a:r>
              <a:rPr lang="en-IN" i="1" dirty="0"/>
              <a:t>: Spatial vision transformer </a:t>
            </a:r>
            <a:r>
              <a:rPr lang="en-IN" i="1" dirty="0" err="1"/>
              <a:t>UNet</a:t>
            </a:r>
            <a:r>
              <a:rPr lang="en-IN" i="1" dirty="0"/>
              <a:t> for enhanced T2-weighted kidney MRI segmentation</a:t>
            </a:r>
            <a:r>
              <a:rPr lang="en-IN" dirty="0"/>
              <a:t>. </a:t>
            </a:r>
            <a:r>
              <a:rPr lang="en-IN" b="1" dirty="0"/>
              <a:t>Procedia Computer Science</a:t>
            </a:r>
            <a:r>
              <a:rPr lang="en-IN" dirty="0"/>
              <a:t>.</a:t>
            </a:r>
          </a:p>
          <a:p>
            <a:r>
              <a:rPr lang="en-IN" dirty="0"/>
              <a:t>Matos, C. E. F., et al. (2024). </a:t>
            </a:r>
            <a:r>
              <a:rPr lang="en-IN" i="1" dirty="0" err="1"/>
              <a:t>Cpp-UNet</a:t>
            </a:r>
            <a:r>
              <a:rPr lang="en-IN" i="1" dirty="0"/>
              <a:t>: Combined pyramid pooling modules in the U-Net network for kidney, </a:t>
            </a:r>
            <a:r>
              <a:rPr lang="en-IN" i="1" dirty="0" err="1"/>
              <a:t>tumor</a:t>
            </a:r>
            <a:r>
              <a:rPr lang="en-IN" i="1" dirty="0"/>
              <a:t> and cyst segmentation</a:t>
            </a:r>
            <a:r>
              <a:rPr lang="en-IN" dirty="0"/>
              <a:t>. </a:t>
            </a:r>
            <a:r>
              <a:rPr lang="en-IN" b="1" dirty="0"/>
              <a:t>IEEE Latin America Transactions, 22</a:t>
            </a:r>
            <a:r>
              <a:rPr lang="en-IN" dirty="0"/>
              <a:t>(8).</a:t>
            </a:r>
          </a:p>
          <a:p>
            <a:r>
              <a:rPr lang="en-IN" dirty="0" err="1"/>
              <a:t>Omarxadel</a:t>
            </a:r>
            <a:r>
              <a:rPr lang="en-IN" dirty="0"/>
              <a:t>. (n.d.). </a:t>
            </a:r>
            <a:r>
              <a:rPr lang="en-IN" i="1" dirty="0"/>
              <a:t>CHAOS combined CT-MR healthy abdominal organ dataset</a:t>
            </a:r>
            <a:r>
              <a:rPr lang="en-IN" dirty="0"/>
              <a:t>. Kaggle. </a:t>
            </a:r>
            <a:r>
              <a:rPr lang="en-IN" dirty="0">
                <a:hlinkClick r:id="rId2"/>
              </a:rPr>
              <a:t>https://www.kaggle.com/datasets/omarxadel/chaos-combined-ct-mr-healthy-abdominal-organ</a:t>
            </a:r>
            <a:endParaRPr lang="en-IN" dirty="0"/>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F9DA5F-7364-60F6-EFCF-AC85F13B1962}"/>
              </a:ext>
            </a:extLst>
          </p:cNvPr>
          <p:cNvSpPr>
            <a:spLocks noGrp="1"/>
          </p:cNvSpPr>
          <p:nvPr>
            <p:ph type="body" sz="quarter" idx="1"/>
          </p:nvPr>
        </p:nvSpPr>
        <p:spPr>
          <a:xfrm>
            <a:off x="1219199" y="1330036"/>
            <a:ext cx="21945602" cy="832614"/>
          </a:xfrm>
        </p:spPr>
        <p:txBody>
          <a:bodyPr/>
          <a:lstStyle/>
          <a:p>
            <a:r>
              <a:rPr lang="en-US" b="1" dirty="0"/>
              <a:t>PO Objective</a:t>
            </a:r>
          </a:p>
          <a:p>
            <a:endParaRPr lang="en-IN" dirty="0"/>
          </a:p>
        </p:txBody>
      </p:sp>
      <p:pic>
        <p:nvPicPr>
          <p:cNvPr id="7" name="Picture 6">
            <a:extLst>
              <a:ext uri="{FF2B5EF4-FFF2-40B4-BE49-F238E27FC236}">
                <a16:creationId xmlns:a16="http://schemas.microsoft.com/office/drawing/2014/main" id="{7E3F899F-BAB1-6A92-F3B5-8227FEA63B56}"/>
              </a:ext>
            </a:extLst>
          </p:cNvPr>
          <p:cNvPicPr>
            <a:picLocks noChangeAspect="1"/>
          </p:cNvPicPr>
          <p:nvPr/>
        </p:nvPicPr>
        <p:blipFill>
          <a:blip r:embed="rId2"/>
          <a:stretch>
            <a:fillRect/>
          </a:stretch>
        </p:blipFill>
        <p:spPr>
          <a:xfrm>
            <a:off x="2105892" y="3267571"/>
            <a:ext cx="20809526" cy="8176284"/>
          </a:xfrm>
          <a:prstGeom prst="rect">
            <a:avLst/>
          </a:prstGeom>
        </p:spPr>
      </p:pic>
    </p:spTree>
    <p:extLst>
      <p:ext uri="{BB962C8B-B14F-4D97-AF65-F5344CB8AC3E}">
        <p14:creationId xmlns:p14="http://schemas.microsoft.com/office/powerpoint/2010/main" val="377143818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B4E15E-67EE-7319-29B6-E0782D71355A}"/>
              </a:ext>
            </a:extLst>
          </p:cNvPr>
          <p:cNvSpPr>
            <a:spLocks noGrp="1"/>
          </p:cNvSpPr>
          <p:nvPr>
            <p:ph type="body" sz="quarter" idx="1"/>
          </p:nvPr>
        </p:nvSpPr>
        <p:spPr>
          <a:xfrm>
            <a:off x="845124" y="639642"/>
            <a:ext cx="21945602" cy="832614"/>
          </a:xfrm>
        </p:spPr>
        <p:txBody>
          <a:bodyPr/>
          <a:lstStyle/>
          <a:p>
            <a:r>
              <a:rPr lang="en-US" b="1" dirty="0"/>
              <a:t>PSO Mapping Table</a:t>
            </a:r>
          </a:p>
          <a:p>
            <a:endParaRPr lang="en-IN" dirty="0"/>
          </a:p>
        </p:txBody>
      </p:sp>
      <p:pic>
        <p:nvPicPr>
          <p:cNvPr id="5" name="Picture 4">
            <a:extLst>
              <a:ext uri="{FF2B5EF4-FFF2-40B4-BE49-F238E27FC236}">
                <a16:creationId xmlns:a16="http://schemas.microsoft.com/office/drawing/2014/main" id="{D1365D27-01E3-DE81-C823-3F239EF2A4AA}"/>
              </a:ext>
            </a:extLst>
          </p:cNvPr>
          <p:cNvPicPr>
            <a:picLocks noChangeAspect="1"/>
          </p:cNvPicPr>
          <p:nvPr/>
        </p:nvPicPr>
        <p:blipFill>
          <a:blip r:embed="rId2"/>
          <a:stretch>
            <a:fillRect/>
          </a:stretch>
        </p:blipFill>
        <p:spPr>
          <a:xfrm>
            <a:off x="1219198" y="1776389"/>
            <a:ext cx="21197454" cy="6289964"/>
          </a:xfrm>
          <a:prstGeom prst="rect">
            <a:avLst/>
          </a:prstGeom>
        </p:spPr>
      </p:pic>
      <p:sp>
        <p:nvSpPr>
          <p:cNvPr id="7" name="TextBox 6">
            <a:extLst>
              <a:ext uri="{FF2B5EF4-FFF2-40B4-BE49-F238E27FC236}">
                <a16:creationId xmlns:a16="http://schemas.microsoft.com/office/drawing/2014/main" id="{F9D372B8-EDF9-647E-4376-A3320D64DAF2}"/>
              </a:ext>
            </a:extLst>
          </p:cNvPr>
          <p:cNvSpPr txBox="1"/>
          <p:nvPr/>
        </p:nvSpPr>
        <p:spPr>
          <a:xfrm>
            <a:off x="845124" y="8370486"/>
            <a:ext cx="22236549" cy="50413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200" b="1" dirty="0"/>
              <a:t>JUSTIFICATION</a:t>
            </a:r>
          </a:p>
          <a:p>
            <a:r>
              <a:rPr lang="en-US" sz="3200" b="1" dirty="0"/>
              <a:t>PSO1 – </a:t>
            </a:r>
            <a:endParaRPr lang="en-US" sz="3200" dirty="0"/>
          </a:p>
          <a:p>
            <a:r>
              <a:rPr lang="en-US" sz="3200" dirty="0"/>
              <a:t>• Development of an AI/ML-based medical image segmentation system using deep learning architectures.</a:t>
            </a:r>
          </a:p>
          <a:p>
            <a:r>
              <a:rPr lang="en-US" sz="3200" b="1" dirty="0"/>
              <a:t>PSO2 – </a:t>
            </a:r>
            <a:endParaRPr lang="en-US" sz="3200" dirty="0"/>
          </a:p>
          <a:p>
            <a:r>
              <a:rPr lang="en-US" sz="3200" dirty="0"/>
              <a:t>• Implementation and management of medical imaging datasets with proper preprocessing and validation techniques.</a:t>
            </a:r>
          </a:p>
          <a:p>
            <a:r>
              <a:rPr lang="en-US" sz="3200" b="1" dirty="0"/>
              <a:t>PSO3 – </a:t>
            </a:r>
            <a:endParaRPr lang="en-US" sz="3200" dirty="0"/>
          </a:p>
          <a:p>
            <a:r>
              <a:rPr lang="en-US" sz="3200" dirty="0"/>
              <a:t>• Analysis and evaluation of intelligent model architectures through experimental comparison and performance studies.</a:t>
            </a:r>
          </a:p>
        </p:txBody>
      </p:sp>
    </p:spTree>
    <p:extLst>
      <p:ext uri="{BB962C8B-B14F-4D97-AF65-F5344CB8AC3E}">
        <p14:creationId xmlns:p14="http://schemas.microsoft.com/office/powerpoint/2010/main" val="426500583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9DD724-2F46-2399-257D-6E83E51185A1}"/>
              </a:ext>
            </a:extLst>
          </p:cNvPr>
          <p:cNvSpPr>
            <a:spLocks noGrp="1"/>
          </p:cNvSpPr>
          <p:nvPr>
            <p:ph type="body" sz="quarter" idx="1"/>
          </p:nvPr>
        </p:nvSpPr>
        <p:spPr>
          <a:xfrm>
            <a:off x="1219199" y="1165448"/>
            <a:ext cx="21945602" cy="832614"/>
          </a:xfrm>
        </p:spPr>
        <p:txBody>
          <a:bodyPr>
            <a:normAutofit fontScale="92500" lnSpcReduction="10000"/>
          </a:bodyPr>
          <a:lstStyle/>
          <a:p>
            <a:r>
              <a:rPr lang="en-US" sz="5400" b="1" dirty="0"/>
              <a:t>SDG Goals</a:t>
            </a:r>
          </a:p>
          <a:p>
            <a:endParaRPr lang="en-IN" dirty="0"/>
          </a:p>
        </p:txBody>
      </p:sp>
      <p:pic>
        <p:nvPicPr>
          <p:cNvPr id="5" name="Picture 4">
            <a:extLst>
              <a:ext uri="{FF2B5EF4-FFF2-40B4-BE49-F238E27FC236}">
                <a16:creationId xmlns:a16="http://schemas.microsoft.com/office/drawing/2014/main" id="{3F4EDCDA-868F-7F54-F6E9-5BCAADC303DB}"/>
              </a:ext>
            </a:extLst>
          </p:cNvPr>
          <p:cNvPicPr>
            <a:picLocks noChangeAspect="1"/>
          </p:cNvPicPr>
          <p:nvPr/>
        </p:nvPicPr>
        <p:blipFill>
          <a:blip r:embed="rId2"/>
          <a:stretch>
            <a:fillRect/>
          </a:stretch>
        </p:blipFill>
        <p:spPr>
          <a:xfrm>
            <a:off x="665018" y="2272146"/>
            <a:ext cx="23386473" cy="5990988"/>
          </a:xfrm>
          <a:prstGeom prst="rect">
            <a:avLst/>
          </a:prstGeom>
        </p:spPr>
      </p:pic>
      <p:sp>
        <p:nvSpPr>
          <p:cNvPr id="7" name="TextBox 6">
            <a:extLst>
              <a:ext uri="{FF2B5EF4-FFF2-40B4-BE49-F238E27FC236}">
                <a16:creationId xmlns:a16="http://schemas.microsoft.com/office/drawing/2014/main" id="{AC4DA95A-DD13-C148-29F8-A51017E56007}"/>
              </a:ext>
            </a:extLst>
          </p:cNvPr>
          <p:cNvSpPr txBox="1"/>
          <p:nvPr/>
        </p:nvSpPr>
        <p:spPr>
          <a:xfrm>
            <a:off x="665018" y="8871118"/>
            <a:ext cx="22499783" cy="40564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400" b="1" dirty="0"/>
              <a:t>SDG 3 – Good Health and Well-Being (3)</a:t>
            </a:r>
            <a:br>
              <a:rPr lang="en-US" sz="4400" dirty="0"/>
            </a:br>
            <a:r>
              <a:rPr lang="en-US" sz="4400" dirty="0"/>
              <a:t>• AI-based kidney segmentation system supports accurate medical diagnosis and improves healthcare outcomes.</a:t>
            </a:r>
          </a:p>
          <a:p>
            <a:r>
              <a:rPr lang="en-US" sz="4400" b="1" dirty="0"/>
              <a:t>SDG 9 – Industry, Innovation and Infrastructure (2)</a:t>
            </a:r>
            <a:br>
              <a:rPr lang="en-US" sz="4400" dirty="0"/>
            </a:br>
            <a:r>
              <a:rPr lang="en-US" sz="4400" dirty="0"/>
              <a:t>• Development of advanced deep learning architecture promotes innovation in medical imaging technology.</a:t>
            </a:r>
          </a:p>
        </p:txBody>
      </p:sp>
    </p:spTree>
    <p:extLst>
      <p:ext uri="{BB962C8B-B14F-4D97-AF65-F5344CB8AC3E}">
        <p14:creationId xmlns:p14="http://schemas.microsoft.com/office/powerpoint/2010/main" val="160943033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Thank You"/>
          <p:cNvSpPr txBox="1">
            <a:spLocks noGrp="1"/>
          </p:cNvSpPr>
          <p:nvPr>
            <p:ph type="title"/>
          </p:nvPr>
        </p:nvSpPr>
        <p:spPr>
          <a:xfrm>
            <a:off x="1219199" y="5994398"/>
            <a:ext cx="21945602" cy="1727202"/>
          </a:xfrm>
          <a:prstGeom prst="rect">
            <a:avLst/>
          </a:prstGeom>
        </p:spPr>
        <p:txBody>
          <a:bodyPr/>
          <a:lstStyle>
            <a:lvl1pPr>
              <a:defRPr spc="-100"/>
            </a:lvl1pPr>
          </a:lstStyle>
          <a:p>
            <a:r>
              <a:t>Thank You</a:t>
            </a:r>
          </a:p>
        </p:txBody>
      </p:sp>
    </p:spTree>
  </p:cSld>
  <p:clrMapOvr>
    <a:masterClrMapping/>
  </p:clrMapOvr>
  <p:transition spd="med"/>
</p:sld>
</file>

<file path=ppt/theme/theme1.xml><?xml version="1.0" encoding="utf-8"?>
<a:theme xmlns:a="http://schemas.openxmlformats.org/drawingml/2006/main"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8530457-b4a5-4f5a-ba9a-d8725e18493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868FC80CE3F6B45B76AC95982DF1CBB" ma:contentTypeVersion="13" ma:contentTypeDescription="Create a new document." ma:contentTypeScope="" ma:versionID="78cfcf73e9803225bd3c66162787845b">
  <xsd:schema xmlns:xsd="http://www.w3.org/2001/XMLSchema" xmlns:xs="http://www.w3.org/2001/XMLSchema" xmlns:p="http://schemas.microsoft.com/office/2006/metadata/properties" xmlns:ns3="98530457-b4a5-4f5a-ba9a-d8725e184933" xmlns:ns4="7b212d92-ea0e-44a5-9bea-17901cee6800" targetNamespace="http://schemas.microsoft.com/office/2006/metadata/properties" ma:root="true" ma:fieldsID="281d7351ad92441dc8fae33a7d24e530" ns3:_="" ns4:_="">
    <xsd:import namespace="98530457-b4a5-4f5a-ba9a-d8725e184933"/>
    <xsd:import namespace="7b212d92-ea0e-44a5-9bea-17901cee6800"/>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DateTaken"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530457-b4a5-4f5a-ba9a-d8725e184933"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b212d92-ea0e-44a5-9bea-17901cee6800"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89D082-8DFE-42AB-8E5F-B0C831FEE434}">
  <ds:schemaRefs>
    <ds:schemaRef ds:uri="http://schemas.microsoft.com/office/2006/metadata/properties"/>
    <ds:schemaRef ds:uri="http://www.w3.org/XML/1998/namespace"/>
    <ds:schemaRef ds:uri="http://schemas.microsoft.com/office/2006/documentManagement/types"/>
    <ds:schemaRef ds:uri="http://schemas.openxmlformats.org/package/2006/metadata/core-properties"/>
    <ds:schemaRef ds:uri="http://purl.org/dc/dcmitype/"/>
    <ds:schemaRef ds:uri="http://purl.org/dc/elements/1.1/"/>
    <ds:schemaRef ds:uri="http://schemas.microsoft.com/office/infopath/2007/PartnerControls"/>
    <ds:schemaRef ds:uri="7b212d92-ea0e-44a5-9bea-17901cee6800"/>
    <ds:schemaRef ds:uri="98530457-b4a5-4f5a-ba9a-d8725e184933"/>
    <ds:schemaRef ds:uri="http://purl.org/dc/terms/"/>
  </ds:schemaRefs>
</ds:datastoreItem>
</file>

<file path=customXml/itemProps2.xml><?xml version="1.0" encoding="utf-8"?>
<ds:datastoreItem xmlns:ds="http://schemas.openxmlformats.org/officeDocument/2006/customXml" ds:itemID="{21B70211-0D0E-42A5-83B2-E05F8995E2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530457-b4a5-4f5a-ba9a-d8725e184933"/>
    <ds:schemaRef ds:uri="7b212d92-ea0e-44a5-9bea-17901cee68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8F2719-509B-4980-873D-A1F2918D9F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705</TotalTime>
  <Words>2319</Words>
  <Application>Microsoft Office PowerPoint</Application>
  <PresentationFormat>Custom</PresentationFormat>
  <Paragraphs>204</Paragraphs>
  <Slides>26</Slides>
  <Notes>1</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26</vt:i4>
      </vt:variant>
    </vt:vector>
  </HeadingPairs>
  <TitlesOfParts>
    <vt:vector size="42" baseType="lpstr">
      <vt:lpstr>Arial</vt:lpstr>
      <vt:lpstr>Calibri</vt:lpstr>
      <vt:lpstr>Calibri Light</vt:lpstr>
      <vt:lpstr>Canela Bold</vt:lpstr>
      <vt:lpstr>Canela Deck Regular</vt:lpstr>
      <vt:lpstr>Canela Regular</vt:lpstr>
      <vt:lpstr>Canela Text</vt:lpstr>
      <vt:lpstr>Canela Text Regular</vt:lpstr>
      <vt:lpstr>Graphik</vt:lpstr>
      <vt:lpstr>Graphik Medium</vt:lpstr>
      <vt:lpstr>Graphik Semibold</vt:lpstr>
      <vt:lpstr>Helvetica</vt:lpstr>
      <vt:lpstr>Helvetica Neue</vt:lpstr>
      <vt:lpstr>Times New Roman</vt:lpstr>
      <vt:lpstr>23_ClassicWhite</vt:lpstr>
      <vt:lpstr>Office Theme</vt:lpstr>
      <vt:lpstr>Deep Learning Approach for Kidney CT Segmentation Using Attention U-Net++ </vt:lpstr>
      <vt:lpstr>AGENDA</vt:lpstr>
      <vt:lpstr>Introduction &amp; Problem Statement</vt:lpstr>
      <vt:lpstr>Abstract</vt:lpstr>
      <vt:lpstr>PowerPoint Presentation</vt:lpstr>
      <vt:lpstr>Literature Survey</vt:lpstr>
      <vt:lpstr>Literature Survey</vt:lpstr>
      <vt:lpstr>Literature Survey</vt:lpstr>
      <vt:lpstr>Literature Survey</vt:lpstr>
      <vt:lpstr>Literature Survey</vt:lpstr>
      <vt:lpstr>Literature Survey</vt:lpstr>
      <vt:lpstr>Proposed Methodology</vt:lpstr>
      <vt:lpstr>Architecture</vt:lpstr>
      <vt:lpstr>Implementation</vt:lpstr>
      <vt:lpstr>Implementation</vt:lpstr>
      <vt:lpstr>Implementation</vt:lpstr>
      <vt:lpstr>Datasets</vt:lpstr>
      <vt:lpstr>Results</vt:lpstr>
      <vt:lpstr>Conclusion</vt:lpstr>
      <vt:lpstr>Future Scope</vt:lpstr>
      <vt:lpstr>Publication Details</vt:lpstr>
      <vt:lpstr>References</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Lasya</dc:creator>
  <cp:lastModifiedBy>22-737-301_TERETPALLY LASYA PRIYA</cp:lastModifiedBy>
  <cp:revision>14</cp:revision>
  <dcterms:modified xsi:type="dcterms:W3CDTF">2026-05-06T16:29:02Z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0x0101004868FC80CE3F6B45B76AC95982DF1CBB</vt:lpwstr>
  </property>
</Properties>
</file>